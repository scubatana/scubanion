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2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3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4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5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6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 projet" id="{404ca873-0e60-5005-7de4-745475227af4}">
          <p14:sldIdLst>
            <p14:sldId id="256"/>
            <p14:sldId id="257"/>
            <p14:sldId id="258"/>
            <p14:sldId id="259"/>
            <p14:sldId id="260"/>
          </p14:sldIdLst>
        </p14:section>
        <p14:section name="Le produit" id="{e9823a71-f7dc-c444-b890-becb3e2299f8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Le marché" id="{4b6b703c-8d45-475e-f976-574be38916d4}">
          <p14:sldIdLst>
            <p14:sldId id="268"/>
            <p14:sldId id="269"/>
          </p14:sldIdLst>
        </p14:section>
        <p14:section name="Gestion de projet" id="{9e634024-2c9c-c8d3-5f80-4a3276ac6e89}">
          <p14:sldIdLst>
            <p14:sldId id="270"/>
            <p14:sldId id="271"/>
            <p14:sldId id="272"/>
            <p14:sldId id="273"/>
            <p14:sldId id="274"/>
          </p14:sldIdLst>
        </p14:section>
        <p14:section name="Les clients" id="{8c90abfc-cf93-7827-11a3-f07016cb059b}">
          <p14:sldIdLst>
            <p14:sldId id="275"/>
            <p14:sldId id="276"/>
            <p14:sldId id="277"/>
            <p14:sldId id="278"/>
          </p14:sldIdLst>
        </p14:section>
        <p14:section name="Communication" id="{b391b4f6-ef9e-7c3e-0b54-b7fd90980948}">
          <p14:sldIdLst>
            <p14:sldId id="279"/>
            <p14:sldId id="280"/>
            <p14:sldId id="281"/>
          </p14:sldIdLst>
        </p14:section>
        <p14:section name="Satisfaction" id="{f73ab678-2fed-35d6-7a17-6a30482a5574}">
          <p14:sldIdLst>
            <p14:sldId id="282"/>
            <p14:sldId id="283"/>
            <p14:sldId id="284"/>
          </p14:sldIdLst>
        </p14:section>
        <p14:section name="Modèle économique" id="{4f098bbd-52f4-81eb-76ff-9ad829cfbec8}">
          <p14:sldIdLst>
            <p14:sldId id="285"/>
            <p14:sldId id="286"/>
            <p14:sldId id="287"/>
          </p14:sldIdLst>
        </p14:section>
        <p14:section name="Finances" id="{a59d22f6-3828-5f34-8eca-a8777285c202}">
          <p14:sldIdLst>
            <p14:sldId id="288"/>
            <p14:sldId id="289"/>
            <p14:sldId id="290"/>
            <p14:sldId id="291"/>
          </p14:sldIdLst>
        </p14:section>
        <p14:section name="Pilotage" id="{6c8fc0b7-90df-aa60-a9b9-77ae7eef0a0d}">
          <p14:sldIdLst>
            <p14:sldId id="292"/>
            <p14:sldId id="293"/>
            <p14:sldId id="294"/>
            <p14:sldId id="295"/>
            <p14:sldId id="296"/>
            <p14:sldId id="297"/>
          </p14:sldIdLst>
        </p14:section>
        <p14:section name="Partie technique" id="{39886a6f-6e23-7aba-96a3-2c04eba2790f}">
          <p14:sldIdLst>
            <p14:sldId id="298"/>
            <p14:sldId id="299"/>
            <p14:sldId id="300"/>
            <p14:sldId id="301"/>
            <p14:sldId id="302"/>
          </p14:sldIdLst>
        </p14:section>
        <p14:section name="Bilan" id="{d9fcf162-b252-6903-7d17-a4900f750208}">
          <p14:sldIdLst>
            <p14:sldId id="303"/>
            <p14:sldId id="304"/>
            <p14:sldId id="305"/>
            <p14:sldId id="306"/>
          </p14:sldIdLst>
        </p14:section>
        <p14:section name="Annexe" id="{009d9412-1fee-bd97-9ca3-bca8b8d79f8f}">
          <p14:sldIdLst>
            <p14:sldId id="3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Scubanion</c:v>
                </c:pt>
              </c:strCache>
            </c:strRef>
          </c:tx>
          <c:spPr>
            <a:solidFill>
              <a:srgbClr val="F0855A"/>
            </a:solidFill>
            <a:ln w="38100" cap="flat">
              <a:solidFill>
                <a:srgbClr val="F085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F0855A"/>
              </a:solidFill>
              <a:ln w="9525" cap="flat">
                <a:solidFill>
                  <a:srgbClr val="F085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Attachement</c:v>
                  </c:pt>
                  <c:pt idx="1">
                    <c:v>Sortie réelle</c:v>
                  </c:pt>
                  <c:pt idx="2">
                    <c:v>Rencontre physique</c:v>
                  </c:pt>
                  <c:pt idx="3">
                    <c:v>Lieux partenaires</c:v>
                  </c:pt>
                  <c:pt idx="4">
                    <c:v>Rien à acheter</c:v>
                  </c:pt>
                  <c:pt idx="5">
                    <c:v>Taille d'audience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95</c:v>
                </c:pt>
                <c:pt idx="2">
                  <c:v>90</c:v>
                </c:pt>
                <c:pt idx="3">
                  <c:v>90</c:v>
                </c:pt>
                <c:pt idx="4">
                  <c:v>100</c:v>
                </c:pt>
                <c:pt idx="5">
                  <c:v>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Jeux géolocalisés</c:v>
                </c:pt>
              </c:strCache>
            </c:strRef>
          </c:tx>
          <c:spPr>
            <a:solidFill>
              <a:srgbClr val="C8452F"/>
            </a:solidFill>
            <a:ln w="38100" cap="flat">
              <a:solidFill>
                <a:srgbClr val="C845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C8452F"/>
              </a:solidFill>
              <a:ln w="9525" cap="flat">
                <a:solidFill>
                  <a:srgbClr val="C845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Attachement</c:v>
                  </c:pt>
                  <c:pt idx="1">
                    <c:v>Sortie réelle</c:v>
                  </c:pt>
                  <c:pt idx="2">
                    <c:v>Rencontre physique</c:v>
                  </c:pt>
                  <c:pt idx="3">
                    <c:v>Lieux partenaires</c:v>
                  </c:pt>
                  <c:pt idx="4">
                    <c:v>Rien à acheter</c:v>
                  </c:pt>
                  <c:pt idx="5">
                    <c:v>Taille d'audience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50</c:v>
                </c:pt>
                <c:pt idx="1">
                  <c:v>80</c:v>
                </c:pt>
                <c:pt idx="2">
                  <c:v>40</c:v>
                </c:pt>
                <c:pt idx="3">
                  <c:v>20</c:v>
                </c:pt>
                <c:pt idx="4">
                  <c:v>90</c:v>
                </c:pt>
                <c:pt idx="5">
                  <c:v>100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Applis de suivi d'activité</c:v>
                </c:pt>
              </c:strCache>
            </c:strRef>
          </c:tx>
          <c:spPr>
            <a:solidFill>
              <a:srgbClr val="8FB9C2"/>
            </a:solidFill>
            <a:ln w="38100" cap="flat">
              <a:solidFill>
                <a:srgbClr val="8FB9C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8FB9C2"/>
              </a:solidFill>
              <a:ln w="9525" cap="flat">
                <a:solidFill>
                  <a:srgbClr val="8FB9C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Attachement</c:v>
                  </c:pt>
                  <c:pt idx="1">
                    <c:v>Sortie réelle</c:v>
                  </c:pt>
                  <c:pt idx="2">
                    <c:v>Rencontre physique</c:v>
                  </c:pt>
                  <c:pt idx="3">
                    <c:v>Lieux partenaires</c:v>
                  </c:pt>
                  <c:pt idx="4">
                    <c:v>Rien à acheter</c:v>
                  </c:pt>
                  <c:pt idx="5">
                    <c:v>Taille d'audience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10</c:v>
                </c:pt>
                <c:pt idx="1">
                  <c:v>40</c:v>
                </c:pt>
                <c:pt idx="2">
                  <c:v>5</c:v>
                </c:pt>
                <c:pt idx="3">
                  <c:v>0</c:v>
                </c:pt>
                <c:pt idx="4">
                  <c:v>60</c:v>
                </c:pt>
                <c:pt idx="5">
                  <c:v>80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3A4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CEB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C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E3A4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Joueurs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6B7A"/>
              </a:solidFill>
              <a:effectLst/>
            </c:spPr>
          </c:dPt>
          <c:dPt>
            <c:idx val="1"/>
            <c:bubble3D val="0"/>
            <c:spPr>
              <a:solidFill>
                <a:srgbClr val="5FA3AE"/>
              </a:solidFill>
              <a:effectLst/>
            </c:spPr>
          </c:dPt>
          <c:dPt>
            <c:idx val="2"/>
            <c:bubble3D val="0"/>
            <c:spPr>
              <a:solidFill>
                <a:srgbClr val="F0855A"/>
              </a:solidFill>
              <a:effectLst/>
            </c:spPr>
          </c:dPt>
          <c:dPt>
            <c:idx val="3"/>
            <c:bubble3D val="0"/>
            <c:spPr>
              <a:solidFill>
                <a:srgbClr val="8FB9C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Étudiants 18-24 ans</c:v>
                </c:pt>
                <c:pt idx="1">
                  <c:v>Jeunes actifs 25-30 ans</c:v>
                </c:pt>
                <c:pt idx="2">
                  <c:v>Parents et familles</c:v>
                </c:pt>
                <c:pt idx="3">
                  <c:v>Visiteurs et touristes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35</c:v>
                </c:pt>
                <c:pt idx="2">
                  <c:v>12</c:v>
                </c:pt>
                <c:pt idx="3">
                  <c:v>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300">
              <a:solidFill>
                <a:srgbClr val="1E3A4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Rétention à 30 jours</c:v>
                </c:pt>
              </c:strCache>
            </c:strRef>
          </c:tx>
          <c:spPr>
            <a:solidFill>
              <a:srgbClr val="8FB9C2"/>
            </a:solidFill>
            <a:effectLst/>
          </c:spPr>
          <c:invertIfNegative val="0"/>
          <c:dLbls>
            <c:numFmt formatCode="0&quot; 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E3A4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B9C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B9C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855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Jeux mobiles</c:v>
                  </c:pt>
                  <c:pt idx="1">
                    <c:v>Applis de suivi d'activité</c:v>
                  </c:pt>
                  <c:pt idx="2">
                    <c:v>Scubanion, objectif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8</c:v>
                </c:pt>
                <c:pt idx="2">
                  <c:v>25</c:v>
                </c:pt>
              </c:numCache>
            </c:numRef>
          </c:val>
        </c:ser>
        <c:dLbls>
          <c:numFmt formatCode="0&quot; 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E3A4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3A4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Personnes convaincues (sur 8)</c:v>
                </c:pt>
              </c:strCache>
            </c:strRef>
          </c:tx>
          <c:spPr>
            <a:solidFill>
              <a:srgbClr val="8FB9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3A4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B9C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6B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6B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0855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FB9C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FB9C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FB9C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FB9C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FB9C2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8FB9C2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0,49 €</c:v>
                  </c:pt>
                  <c:pt idx="1">
                    <c:v>0,99 €</c:v>
                  </c:pt>
                  <c:pt idx="2">
                    <c:v>1,49 €</c:v>
                  </c:pt>
                  <c:pt idx="3">
                    <c:v>1,99 €</c:v>
                  </c:pt>
                  <c:pt idx="4">
                    <c:v>2,49 €</c:v>
                  </c:pt>
                  <c:pt idx="5">
                    <c:v>2,99 €</c:v>
                  </c:pt>
                  <c:pt idx="6">
                    <c:v>3,99 €</c:v>
                  </c:pt>
                  <c:pt idx="7">
                    <c:v>4,99 €</c:v>
                  </c:pt>
                  <c:pt idx="8">
                    <c:v>6,99 €</c:v>
                  </c:pt>
                  <c:pt idx="9">
                    <c:v>9,99 €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</c:v>
                </c:pt>
                <c:pt idx="1">
                  <c:v>8</c:v>
                </c:pt>
                <c:pt idx="2">
                  <c:v>8</c:v>
                </c:pt>
                <c:pt idx="3">
                  <c:v>7</c:v>
                </c:pt>
                <c:pt idx="4">
                  <c:v>6</c:v>
                </c:pt>
                <c:pt idx="5">
                  <c:v>4</c:v>
                </c:pt>
                <c:pt idx="6">
                  <c:v>2</c:v>
                </c:pt>
                <c:pt idx="7">
                  <c:v>1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E3A4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C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REVENUS DU PROJET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42"/>
              </a:solidFill>
              <a:effectLst/>
            </c:spPr>
          </c:dPt>
          <c:dPt>
            <c:idx val="1"/>
            <c:bubble3D val="0"/>
            <c:spPr>
              <a:solidFill>
                <a:srgbClr val="2F6B7A"/>
              </a:solidFill>
              <a:effectLst/>
            </c:spPr>
          </c:dPt>
          <c:dPt>
            <c:idx val="2"/>
            <c:bubble3D val="0"/>
            <c:spPr>
              <a:solidFill>
                <a:srgbClr val="5FA3AE"/>
              </a:solidFill>
              <a:effectLst/>
            </c:spPr>
          </c:dPt>
          <c:dPt>
            <c:idx val="3"/>
            <c:bubble3D val="0"/>
            <c:spPr>
              <a:solidFill>
                <a:srgbClr val="8FB9C2"/>
              </a:solidFill>
              <a:effectLst/>
            </c:spPr>
          </c:dPt>
          <c:dPt>
            <c:idx val="4"/>
            <c:bubble3D val="0"/>
            <c:spPr>
              <a:solidFill>
                <a:srgbClr val="F0855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Bornes</c:v>
                </c:pt>
                <c:pt idx="1">
                  <c:v>Parcours</c:v>
                </c:pt>
                <c:pt idx="2">
                  <c:v>Quêtes</c:v>
                </c:pt>
                <c:pt idx="3">
                  <c:v>Bien-être</c:v>
                </c:pt>
                <c:pt idx="4">
                  <c:v>Cosmétiques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23520</c:v>
                </c:pt>
                <c:pt idx="1">
                  <c:v>15000</c:v>
                </c:pt>
                <c:pt idx="2">
                  <c:v>12360</c:v>
                </c:pt>
                <c:pt idx="3">
                  <c:v>6120</c:v>
                </c:pt>
                <c:pt idx="4">
                  <c:v>3000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COÛTS DU PROJET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42"/>
              </a:solidFill>
              <a:effectLst/>
            </c:spPr>
          </c:dPt>
          <c:dPt>
            <c:idx val="1"/>
            <c:bubble3D val="0"/>
            <c:spPr>
              <a:solidFill>
                <a:srgbClr val="2F6B7A"/>
              </a:solidFill>
              <a:effectLst/>
            </c:spPr>
          </c:dPt>
          <c:dPt>
            <c:idx val="2"/>
            <c:bubble3D val="0"/>
            <c:spPr>
              <a:solidFill>
                <a:srgbClr val="5FA3AE"/>
              </a:solidFill>
              <a:effectLst/>
            </c:spPr>
          </c:dPt>
          <c:dPt>
            <c:idx val="3"/>
            <c:bubble3D val="0"/>
            <c:spPr>
              <a:solidFill>
                <a:srgbClr val="8FB9C2"/>
              </a:solidFill>
              <a:effectLst/>
            </c:spPr>
          </c:dPt>
          <c:dPt>
            <c:idx val="4"/>
            <c:bubble3D val="0"/>
            <c:spPr>
              <a:solidFill>
                <a:srgbClr val="F0855A"/>
              </a:solidFill>
              <a:effectLst/>
            </c:spPr>
          </c:dPt>
          <c:dPt>
            <c:idx val="5"/>
            <c:bubble3D val="0"/>
            <c:spPr>
              <a:solidFill>
                <a:srgbClr val="DCEBE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Salaires</c:v>
                </c:pt>
                <c:pt idx="1">
                  <c:v>Acquisition</c:v>
                </c:pt>
                <c:pt idx="2">
                  <c:v>Locaux</c:v>
                </c:pt>
                <c:pt idx="3">
                  <c:v>Juridique</c:v>
                </c:pt>
                <c:pt idx="4">
                  <c:v>Bornes</c:v>
                </c:pt>
                <c:pt idx="5">
                  <c:v>Infra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95000</c:v>
                </c:pt>
                <c:pt idx="1">
                  <c:v>15000</c:v>
                </c:pt>
                <c:pt idx="2">
                  <c:v>6000</c:v>
                </c:pt>
                <c:pt idx="3">
                  <c:v>4000</c:v>
                </c:pt>
                <c:pt idx="4">
                  <c:v>3600</c:v>
                </c:pt>
                <c:pt idx="5">
                  <c:v>3000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Accroche : un compagnon virtuel qui ne grandit que si l'on sort.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ontenu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Libre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Sombre-image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Ocean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thomas/Bureau/SAE/scubanion/docs/r501/assets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82512"/>
            <a:ext cx="274320" cy="2505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6B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Scubanion · équipe Scubatana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Titre</a:t>
            </a:r>
            <a:endParaRPr lang="en-US" sz="3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defRPr>
            </a:lvl1pPr>
          </a:lstStyle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Sous-titre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b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thomas/Bureau/SAE/scubanion/docs/r501/assets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82512"/>
            <a:ext cx="274320" cy="2505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6B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Scubanion · équipe Scubatana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thomas/Bureau/SAE/scubanion/docs/r501/assets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82512"/>
            <a:ext cx="274320" cy="2505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9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Scubanion · équipe Scubatana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ea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thomas/Bureau/SAE/scubanion/docs/r501/assets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82512"/>
            <a:ext cx="274320" cy="2505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9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Scubanion · équipe Scubatana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image" Target="../media/image-44-2.jpg"/><Relationship Id="rId3" Type="http://schemas.openxmlformats.org/officeDocument/2006/relationships/image" Target="../media/image-44-3.jpg"/><Relationship Id="rId4" Type="http://schemas.openxmlformats.org/officeDocument/2006/relationships/image" Target="../media/image-44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" y="182880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Scubanion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30175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Un compagnon virtuel · Tes vrais pas · Tes vraies rencontres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05840" y="3703320"/>
            <a:ext cx="155448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3703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Découvrir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3703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▶  Voir le film de la borne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57200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SAÉ BUT3-IoT 2026-27 · BUT 3 Informatique · équipe Scubatana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BANDIERAS Thomas · DALMASSO Evan · KARROUCHI Hamza · LESUEUR Shaleena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Comité directeur : E. Rochard · M.-A. Peraldi · N. Ferry · J. Courtoisier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Soutenance : ⟨ date ⟩</a:t>
            </a:r>
            <a:endParaRPr lang="en-US" sz="1200" dirty="0"/>
          </a:p>
        </p:txBody>
      </p:sp>
      <p:pic>
        <p:nvPicPr>
          <p:cNvPr id="8" name="Image 0" descr="/home/thomas/Bureau/SAE/scubanion/docs/r501/assets/images/maquette-accue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502920"/>
            <a:ext cx="2703680" cy="5852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Vous vous reconnaissez dans ces situations 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920240"/>
            <a:ext cx="3246120" cy="2286000"/>
          </a:xfrm>
          <a:prstGeom prst="roundRect">
            <a:avLst>
              <a:gd name="adj" fmla="val 48000"/>
            </a:avLst>
          </a:prstGeom>
          <a:solidFill>
            <a:schemeClr val="tx1"/>
          </a:solidFill>
          <a:ln w="25400">
            <a:solidFill>
              <a:srgbClr val="F6D8C8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🛋️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434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Une journée entière sans sortir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80560" y="1920240"/>
            <a:ext cx="3246120" cy="2286000"/>
          </a:xfrm>
          <a:prstGeom prst="roundRect">
            <a:avLst>
              <a:gd name="adj" fmla="val 48000"/>
            </a:avLst>
          </a:prstGeom>
          <a:solidFill>
            <a:schemeClr val="accent1"/>
          </a:solidFill>
          <a:ln w="25400">
            <a:solidFill>
              <a:srgbClr val="F6D8C8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480560" y="1920240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📱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4434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Cinq heures d'écran par jour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38160" y="1920240"/>
            <a:ext cx="3246120" cy="2286000"/>
          </a:xfrm>
          <a:prstGeom prst="roundRect">
            <a:avLst>
              <a:gd name="adj" fmla="val 48000"/>
            </a:avLst>
          </a:prstGeom>
          <a:solidFill>
            <a:srgbClr val="5FA3AE"/>
          </a:solidFill>
          <a:ln w="25400">
            <a:solidFill>
              <a:srgbClr val="F6D8C8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138160" y="1920240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☕</a:t>
            </a:r>
            <a:endParaRPr lang="en-US" sz="66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434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Mille contacts, personne pour un café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À Paris, une étudiante comme Léa fait </a:t>
            </a:r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3 500 pas par jour</a:t>
            </a:r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 seulement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645920" y="1828800"/>
            <a:ext cx="4114800" cy="150876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429000" y="1554480"/>
            <a:ext cx="548640" cy="54864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4290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2194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PAS PAR JOUR DE LÉA, 20 ANS, NOTRE PREMIER PERSONA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697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3 500 pas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4114800" cy="150876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183880" y="1554480"/>
            <a:ext cx="548640" cy="54864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194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TEMPS D'ÉCRAN QUOTIDIEN DE CETTE MÊME ÉTUDIANTE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697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heures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645920" y="3840480"/>
            <a:ext cx="4114800" cy="150876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29000" y="3566160"/>
            <a:ext cx="548640" cy="54864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2900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920240" y="4206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18-30 ANS À PARIS, SUR ANDROID, ÉQUIPÉS D'UN PODOMÈTRE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4709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≈ 200 000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400800" y="3840480"/>
            <a:ext cx="4114800" cy="150876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83880" y="3566160"/>
            <a:ext cx="548640" cy="54864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4206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DURÉE DE VIE D'UNE APPLI DE SANTÉ AVANT L'ABANDON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4709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quelques semaines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989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chiffres 1 et 2 sont ceux de nos personas (Business Model Canvas). Le chiffre 3 est une estimation de marché à sourcer.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6309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Comment réadapter l'homme à son environnement, et donner aux jeunes urbains une raison de sortir ?</a:t>
            </a:r>
            <a:endParaRPr lang="en-US" sz="3400" dirty="0"/>
          </a:p>
        </p:txBody>
      </p:sp>
      <p:pic>
        <p:nvPicPr>
          <p:cNvPr id="3" name="Image 0" descr="/home/thomas/Bureau/SAE/scubanion/docs/r501/assets/images/story-musee-1-march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0" y="640080"/>
            <a:ext cx="3291840" cy="2377440"/>
          </a:xfrm>
          <a:prstGeom prst="rect">
            <a:avLst/>
          </a:prstGeom>
        </p:spPr>
      </p:pic>
      <p:pic>
        <p:nvPicPr>
          <p:cNvPr id="4" name="Image 1" descr="/home/thomas/Bureau/SAE/scubanion/docs/r501/assets/images/story-tratt-1-march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23760" y="3291840"/>
            <a:ext cx="3566160" cy="2560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Présentation de l'équipe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Quatre associés fondateurs, deux recrutements prévus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280160" cy="128016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TB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20116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Thomas Bandieras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03120" y="2743200"/>
            <a:ext cx="201168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03120" y="28072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et exploitation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CI/CD, supervision, tests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1280160" cy="128016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343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ED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20116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Evan Dalmasso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06440" y="2743200"/>
            <a:ext cx="201168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8072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Produit et relation utilisateur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mobile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1280160" cy="128016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0467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HK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509760" y="20116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Hamza Karrouchi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509760" y="2743200"/>
            <a:ext cx="201168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09760" y="28072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Plateforme et données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Serveur, API, modèle de données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1280160" cy="128016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0080" y="39319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SL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2103120" y="4023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Shaleena Lesueur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103120" y="4754880"/>
            <a:ext cx="201168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03120" y="4818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Matériel et parc de bornes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Borne IoT, MQTT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931920"/>
            <a:ext cx="1280160" cy="12801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4343400" y="39319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accent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5806440" y="4023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Commercial B2B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806440" y="4754880"/>
            <a:ext cx="201168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06440" y="4818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Premier recrutement,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financement d'amorçage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931920"/>
            <a:ext cx="1280160" cy="12801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8046720" y="39319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accent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9509760" y="4023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Développeur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509760" y="4754880"/>
            <a:ext cx="201168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509760" y="4818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recrutement,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tenir le rythme produit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thomas-Bureau-SAE-scubanion-docs/16c6d30e-9547-499f-935c-011aa1d5b1e7/scratchpad/pp/bg-oce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251960" cy="6858000"/>
          </a:xfrm>
          <a:prstGeom prst="rect">
            <a:avLst/>
          </a:prstGeom>
        </p:spPr>
      </p:pic>
      <p:pic>
        <p:nvPicPr>
          <p:cNvPr id="3" name="Image 1" descr="/home/thomas/Bureau/SAE/scubanion/docs/r501/assets/images/maquette-accue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2703680" cy="58521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120640" y="10972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Un compagnon vivant</a:t>
            </a:r>
            <a:endParaRPr lang="en-US" sz="3600" dirty="0"/>
          </a:p>
        </p:txBody>
      </p:sp>
      <p:sp>
        <p:nvSpPr>
          <p:cNvPr id="5" name="Text 1"/>
          <p:cNvSpPr txBox="1"/>
          <p:nvPr/>
        </p:nvSpPr>
        <p:spPr>
          <a:xfrm>
            <a:off x="5120640" y="2331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Il ne grandit que si toi tu sors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5120640" y="2834640"/>
            <a:ext cx="621792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120640" y="3063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5943600" y="30632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Il grandit avec tes vrais pas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podomètre du téléphone compte, sans rien acheter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120640" y="39776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5943600" y="39776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Il s'étiole si tu restes chez toi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Humeur, santé, niveau : tout dépend de l'activité réelle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120640" y="4892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5943600" y="48920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Il demande, il ne gronde jamais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Hey, on sort ? » plutôt qu'une courbe culpabilisante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thomas-Bureau-SAE-scubanion-docs/16c6d30e-9547-499f-935c-011aa1d5b1e7/scratchpad/pp/bg-oce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39735" y="0"/>
            <a:ext cx="4251960" cy="6858000"/>
          </a:xfrm>
          <a:prstGeom prst="rect">
            <a:avLst/>
          </a:prstGeom>
        </p:spPr>
      </p:pic>
      <p:pic>
        <p:nvPicPr>
          <p:cNvPr id="3" name="Image 1" descr="/home/thomas/Bureau/SAE/scubanion/docs/r501/assets/images/maquette-que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6975" y="502920"/>
            <a:ext cx="2703680" cy="58521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10972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Des quêtes dans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ton quartier</a:t>
            </a:r>
            <a:endParaRPr lang="en-US" sz="36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331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 moteur qui envoie vers des lieux réels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640080" y="2834640"/>
            <a:ext cx="621792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" y="3063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1463040" y="30632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Une première quête à moins de 500 m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premier succès tombe le premier jour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39776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1463040" y="39776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Quiz, photos de sortie, nouveaux lieux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 un défi de la semaine, orienté par ton ambition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thomas-Bureau-SAE-scubanion-docs/16c6d30e-9547-499f-935c-011aa1d5b1e7/scratchpad/pp/bg-oce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251960" cy="6858000"/>
          </a:xfrm>
          <a:prstGeom prst="rect">
            <a:avLst/>
          </a:prstGeom>
        </p:spPr>
      </p:pic>
      <p:pic>
        <p:nvPicPr>
          <p:cNvPr id="3" name="Image 1" descr="/home/thomas/Bureau/SAE/scubanion/docs/r501/assets/images/story-musee-5-debloqu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120640" y="10972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Des bornes chez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nos partenaires</a:t>
            </a:r>
            <a:endParaRPr lang="en-US" sz="3600" dirty="0"/>
          </a:p>
        </p:txBody>
      </p:sp>
      <p:sp>
        <p:nvSpPr>
          <p:cNvPr id="5" name="Text 1"/>
          <p:cNvSpPr txBox="1"/>
          <p:nvPr/>
        </p:nvSpPr>
        <p:spPr>
          <a:xfrm>
            <a:off x="5120640" y="2331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Musées, cafés, parcs : le jeu devient un lieu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5120640" y="2834640"/>
            <a:ext cx="621792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120640" y="3063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5943600" y="30632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On approche le téléphone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 un paiement sans contact : rien à saisir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120640" y="39776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5943600" y="39776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Un objet exclusif au lieu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ne l'obtient qu'en y étant allé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120640" y="4892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5943600" y="48920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Une preuve de passage pour le lieu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ce que nous vendons : un visiteur vérifié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thomas-Bureau-SAE-scubanion-docs/16c6d30e-9547-499f-935c-011aa1d5b1e7/scratchpad/pp/bg-oce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39735" y="0"/>
            <a:ext cx="4251960" cy="6858000"/>
          </a:xfrm>
          <a:prstGeom prst="rect">
            <a:avLst/>
          </a:prstGeom>
        </p:spPr>
      </p:pic>
      <p:pic>
        <p:nvPicPr>
          <p:cNvPr id="3" name="Image 1" descr="/home/thomas/Bureau/SAE/scubanion/docs/r501/assets/images/maquette-am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2615" y="822960"/>
            <a:ext cx="2281230" cy="4937760"/>
          </a:xfrm>
          <a:prstGeom prst="rect">
            <a:avLst/>
          </a:prstGeom>
        </p:spPr>
      </p:pic>
      <p:pic>
        <p:nvPicPr>
          <p:cNvPr id="4" name="Image 2" descr="/home/thomas/Bureau/SAE/scubanion/docs/r501/assets/images/maquette-car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2855" y="1371600"/>
            <a:ext cx="2281230" cy="493776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40080" y="10972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Des amis qu'on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croise vraiment</a:t>
            </a:r>
            <a:endParaRPr lang="en-US" sz="3600" dirty="0"/>
          </a:p>
        </p:txBody>
      </p:sp>
      <p:sp>
        <p:nvSpPr>
          <p:cNvPr id="6" name="Text 1"/>
          <p:cNvSpPr txBox="1"/>
          <p:nvPr/>
        </p:nvSpPr>
        <p:spPr>
          <a:xfrm>
            <a:off x="640080" y="2331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Un réseau social dont le fil est le monde réel</a:t>
            </a:r>
            <a:endParaRPr lang="en-US" sz="1500" dirty="0"/>
          </a:p>
        </p:txBody>
      </p:sp>
      <p:sp>
        <p:nvSpPr>
          <p:cNvPr id="7" name="Shape 2"/>
          <p:cNvSpPr/>
          <p:nvPr/>
        </p:nvSpPr>
        <p:spPr>
          <a:xfrm>
            <a:off x="640080" y="2834640"/>
            <a:ext cx="621792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640080" y="3063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4"/>
          <p:cNvSpPr txBox="1"/>
          <p:nvPr/>
        </p:nvSpPr>
        <p:spPr>
          <a:xfrm>
            <a:off x="1463040" y="30632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On n'écrit qu'aux joueurs croisés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 à ceux de son quartier : se déplacer donne accès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640080" y="39776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6"/>
          <p:cNvSpPr txBox="1"/>
          <p:nvPr/>
        </p:nvSpPr>
        <p:spPr>
          <a:xfrm>
            <a:off x="1463040" y="39776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Guildes et classement de quartier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s'inscrit parce que ses voisins y sont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4892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8"/>
          <p:cNvSpPr txBox="1"/>
          <p:nvPr/>
        </p:nvSpPr>
        <p:spPr>
          <a:xfrm>
            <a:off x="1463040" y="48920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Un bonus quand deux compagnons se croisent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social se vit dehors, pas dans un fil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 paradoxe du jeune urbain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Connecté en permanence, mais assis et seul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846320" cy="3840480"/>
          </a:xfrm>
          <a:prstGeom prst="roundRect">
            <a:avLst>
              <a:gd name="adj" fmla="val 3571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057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🪑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97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La sédentarité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3375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applications de santé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mesurent et affichent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Personne ne regarde leurs courbes.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Aucun attachement :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l'abandon arrive en quelques semaines.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20840" y="1828800"/>
            <a:ext cx="4846320" cy="3840480"/>
          </a:xfrm>
          <a:prstGeom prst="roundRect">
            <a:avLst>
              <a:gd name="adj" fmla="val 3571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086600" y="2057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📵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2697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L'isolement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33375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réseaux sociaux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remplacent la rencontre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 lieu de la provoquer.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Mille contacts, et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personne à qui proposer un café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à dix minutes.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329184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chemeClr val="accent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</a:t>
            </a:r>
            <a:endParaRPr lang="en-US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Scubanion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Faire de la sortie un réflexe, pas une corvée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846320" cy="3840480"/>
          </a:xfrm>
          <a:prstGeom prst="roundRect">
            <a:avLst>
              <a:gd name="adj" fmla="val 3571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057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🐋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97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Attacher plutôt que mesurer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3375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être vivant à charge, dont l'état dépend de vous :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l'affect remplace la statistique.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ressort du Tamagotchi, appliqué à la marche.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20840" y="1828800"/>
            <a:ext cx="4846320" cy="3840480"/>
          </a:xfrm>
          <a:prstGeom prst="roundRect">
            <a:avLst>
              <a:gd name="adj" fmla="val 3571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086600" y="2057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🗿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2697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Envoyer dehors, pas retenir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33375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récompenses sont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attachées à des lieux réels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il faut y aller.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 l'on ne parle qu'aux joueurs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qu'on a croisés.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329184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</a:t>
            </a:r>
            <a:endParaRPr lang="en-US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thomas/Bureau/SAE/scubanion/docs/r501/assets/images/story-musee-6-equip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pic>
        <p:nvPicPr>
          <p:cNvPr id="3" name="Image 1" descr="/tmp/claude-1000/-home-thomas-Bureau-SAE-scubanion-docs/16c6d30e-9547-499f-935c-011aa1d5b1e7/scratchpad/pp/bg-ocea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69280" y="0"/>
            <a:ext cx="652241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217920" y="5486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Nous créons l'application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dont NOUS aurions besoin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6217920" y="2011680"/>
            <a:ext cx="777240" cy="77724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21792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🚫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7178040" y="19659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Aucune publicité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produit qui prétend réduire le temps d'écran ne peut pas vivre de l'attention qu'il capte.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583680" y="3383280"/>
            <a:ext cx="777240" cy="77724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583680" y="3383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🔒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543800" y="33375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Aucune revente de données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 d'historique de position conservé, suppression du compte en deux gestes.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949440" y="4754880"/>
            <a:ext cx="777240" cy="77724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949440" y="4754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⚖️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909560" y="47091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L'XP ne s'achète jamais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Seule l'activité réelle fait progresser. On vend l'apparence, pas la performance.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Face aux jeux géolocalisés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Ce qu'ils font bien, et ce qu'ils ne font pas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754880" cy="3840480"/>
          </a:xfrm>
          <a:prstGeom prst="roundRect">
            <a:avLst>
              <a:gd name="adj" fmla="val 3571"/>
            </a:avLst>
          </a:prstGeom>
          <a:solidFill>
            <a:srgbClr val="FBE2D5"/>
          </a:solidFill>
          <a:ln w="9525">
            <a:solidFill>
              <a:srgbClr val="F0855A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📍 Jeux géolocalisés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51760"/>
            <a:ext cx="4023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 mondiale, marque installée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marche pour jouer, et c'est déjà beaucoup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Achats en jeu de 0,99 € à 99 €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on marche les yeux sur l'écran 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lieu n'est qu'une coordonnée, et personne ne s'y rencontre.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31089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VS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6766560" y="1828800"/>
            <a:ext cx="4754880" cy="3840480"/>
          </a:xfrm>
          <a:prstGeom prst="roundRect">
            <a:avLst>
              <a:gd name="adj" fmla="val 3571"/>
            </a:avLst>
          </a:prstGeom>
          <a:solidFill>
            <a:srgbClr val="E4F1F3"/>
          </a:solidFill>
          <a:ln w="9525">
            <a:solidFill>
              <a:srgbClr val="8FB9C2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04088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🐋 Scubanion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2651760"/>
            <a:ext cx="4023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compagnon à qui l'on tient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borne oblige à lever les yeux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la récompense appartient à un lieu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Rencontres physiques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on ne parle qu'à ceux qu'on a croisés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Rien à acheter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aucune publicité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client qui paie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le lieu, pour du passage vérifié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Ce qui nous différencie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Notation de l'équipe, de 0 à 100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108813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989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Tiré de l'analyse concurrentielle du marketing mix. Notre seul point faible est assumé : l'audience reste à construire.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Analyse SWOT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Lue à l'échelle de l'entreprise, pas du projet étudiant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2057400"/>
          </a:xfrm>
          <a:prstGeom prst="roundRect">
            <a:avLst>
              <a:gd name="adj" fmla="val 6667"/>
            </a:avLst>
          </a:prstGeom>
          <a:solidFill>
            <a:srgbClr val="E4F4EA"/>
          </a:solidFill>
          <a:ln w="9525">
            <a:solidFill>
              <a:srgbClr val="E4F4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6B3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💪 Forces · interne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Équipe technique complète, preuve de concept qui avance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Coût d'acquisition quasi nul : la borne recrute là où l'on passe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Rien à acheter pour l'utilisateur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Savoir-faire rare : NFC, MQTT, Android bas niveau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349240" cy="2057400"/>
          </a:xfrm>
          <a:prstGeom prst="roundRect">
            <a:avLst>
              <a:gd name="adj" fmla="val 6667"/>
            </a:avLst>
          </a:prstGeom>
          <a:solidFill>
            <a:srgbClr val="FBE2D5"/>
          </a:solidFill>
          <a:ln w="9525">
            <a:solidFill>
              <a:srgbClr val="FBE2D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452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⚠️ Faiblesses · interne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2402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Aucune compétence commerciale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alors que le B2B porte 85 % du revenu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Aucun financement, aucune trésorerie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Notoriété nulle, aucune référence client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Effet de réseau difficile à amorcer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5349240" cy="2057400"/>
          </a:xfrm>
          <a:prstGeom prst="roundRect">
            <a:avLst>
              <a:gd name="adj" fmla="val 6667"/>
            </a:avLst>
          </a:prstGeom>
          <a:solidFill>
            <a:srgbClr val="E4F1F3"/>
          </a:solidFill>
          <a:ln w="9525">
            <a:solidFill>
              <a:srgbClr val="E4F1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977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B7A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🚀 Opportunités · externe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4348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Sédentarité devenue politique publique : budgets sport-santé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Budgets qualité de vie au travail en hausse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Lassitude des réseaux sociaux chez les 18-25 ans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Commerces de proximité en quête de trafic mesurable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3840480"/>
            <a:ext cx="5349240" cy="2057400"/>
          </a:xfrm>
          <a:prstGeom prst="roundRect">
            <a:avLst>
              <a:gd name="adj" fmla="val 6667"/>
            </a:avLst>
          </a:prstGeom>
          <a:solidFill>
            <a:srgbClr val="FFF6E6"/>
          </a:solidFill>
          <a:ln w="9525">
            <a:solidFill>
              <a:srgbClr val="FFF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3977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A6410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🌩️ Menaces · externe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4348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acteur installé copie la mécanique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Durcissement du RGPD sur les données de santé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brutal des jeux mobiles après trois mois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Saisonnalité : on marche peu de novembre à février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989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Croisement le plus dangereux : « aucune compétence commerciale » × « un acteur installé copie ». D'où le recrutement d'un commercial avant un second développeur.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Gestion des risques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Douze risques, classés par fréquence et gravité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16459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Catastrophique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2971800" y="16459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Critique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6459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Important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257800" y="16459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Marginal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6459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Négligeable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11680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Fréquent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56232" y="2039112"/>
            <a:ext cx="1088136" cy="603504"/>
          </a:xfrm>
          <a:prstGeom prst="roundRect">
            <a:avLst>
              <a:gd name="adj" fmla="val 9091"/>
            </a:avLst>
          </a:prstGeom>
          <a:solidFill>
            <a:srgbClr val="C8452F"/>
          </a:solidFill>
          <a:ln w="12700">
            <a:solidFill>
              <a:srgbClr val="C8452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9232" y="2039112"/>
            <a:ext cx="1088136" cy="603504"/>
          </a:xfrm>
          <a:prstGeom prst="roundRect">
            <a:avLst>
              <a:gd name="adj" fmla="val 9091"/>
            </a:avLst>
          </a:prstGeom>
          <a:solidFill>
            <a:srgbClr val="C8452F"/>
          </a:solidFill>
          <a:ln w="12700">
            <a:solidFill>
              <a:srgbClr val="C8452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42232" y="2039112"/>
            <a:ext cx="1088136" cy="603504"/>
          </a:xfrm>
          <a:prstGeom prst="roundRect">
            <a:avLst>
              <a:gd name="adj" fmla="val 9091"/>
            </a:avLst>
          </a:prstGeom>
          <a:solidFill>
            <a:srgbClr val="C8452F"/>
          </a:solidFill>
          <a:ln w="12700">
            <a:solidFill>
              <a:srgbClr val="C845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0" y="201168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R9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85232" y="2039112"/>
            <a:ext cx="1088136" cy="603504"/>
          </a:xfrm>
          <a:prstGeom prst="roundRect">
            <a:avLst>
              <a:gd name="adj" fmla="val 9091"/>
            </a:avLst>
          </a:prstGeom>
          <a:solidFill>
            <a:srgbClr val="C8452F"/>
          </a:solidFill>
          <a:ln w="12700">
            <a:solidFill>
              <a:srgbClr val="C845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57800" y="201168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R12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28232" y="2039112"/>
            <a:ext cx="1088136" cy="603504"/>
          </a:xfrm>
          <a:prstGeom prst="roundRect">
            <a:avLst>
              <a:gd name="adj" fmla="val 9091"/>
            </a:avLst>
          </a:prstGeom>
          <a:solidFill>
            <a:srgbClr val="F0855A"/>
          </a:solidFill>
          <a:ln w="12700">
            <a:solidFill>
              <a:srgbClr val="F085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670048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Probable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56232" y="2697480"/>
            <a:ext cx="1088136" cy="603504"/>
          </a:xfrm>
          <a:prstGeom prst="roundRect">
            <a:avLst>
              <a:gd name="adj" fmla="val 9091"/>
            </a:avLst>
          </a:prstGeom>
          <a:solidFill>
            <a:srgbClr val="C8452F"/>
          </a:solidFill>
          <a:ln w="12700">
            <a:solidFill>
              <a:srgbClr val="C845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28800" y="2670048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99232" y="2697480"/>
            <a:ext cx="1088136" cy="603504"/>
          </a:xfrm>
          <a:prstGeom prst="roundRect">
            <a:avLst>
              <a:gd name="adj" fmla="val 9091"/>
            </a:avLst>
          </a:prstGeom>
          <a:solidFill>
            <a:srgbClr val="C8452F"/>
          </a:solidFill>
          <a:ln w="12700">
            <a:solidFill>
              <a:srgbClr val="C845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71800" y="2670048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R3 · R5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42232" y="2697480"/>
            <a:ext cx="1088136" cy="603504"/>
          </a:xfrm>
          <a:prstGeom prst="roundRect">
            <a:avLst>
              <a:gd name="adj" fmla="val 9091"/>
            </a:avLst>
          </a:prstGeom>
          <a:solidFill>
            <a:srgbClr val="C8452F"/>
          </a:solidFill>
          <a:ln w="12700">
            <a:solidFill>
              <a:srgbClr val="C8452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14800" y="2670048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R8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85232" y="2697480"/>
            <a:ext cx="1088136" cy="603504"/>
          </a:xfrm>
          <a:prstGeom prst="roundRect">
            <a:avLst>
              <a:gd name="adj" fmla="val 9091"/>
            </a:avLst>
          </a:prstGeom>
          <a:solidFill>
            <a:srgbClr val="F0855A"/>
          </a:solidFill>
          <a:ln w="12700">
            <a:solidFill>
              <a:srgbClr val="F085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57800" y="2670048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R10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28232" y="2697480"/>
            <a:ext cx="1088136" cy="603504"/>
          </a:xfrm>
          <a:prstGeom prst="roundRect">
            <a:avLst>
              <a:gd name="adj" fmla="val 9091"/>
            </a:avLst>
          </a:prstGeom>
          <a:solidFill>
            <a:srgbClr val="C8902F"/>
          </a:solidFill>
          <a:ln w="12700">
            <a:solidFill>
              <a:srgbClr val="C8902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3328416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Occasionnel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56232" y="3355848"/>
            <a:ext cx="1088136" cy="603504"/>
          </a:xfrm>
          <a:prstGeom prst="roundRect">
            <a:avLst>
              <a:gd name="adj" fmla="val 9091"/>
            </a:avLst>
          </a:prstGeom>
          <a:solidFill>
            <a:srgbClr val="C8452F"/>
          </a:solidFill>
          <a:ln w="12700">
            <a:solidFill>
              <a:srgbClr val="C8452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828800" y="3328416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999232" y="3355848"/>
            <a:ext cx="1088136" cy="603504"/>
          </a:xfrm>
          <a:prstGeom prst="roundRect">
            <a:avLst>
              <a:gd name="adj" fmla="val 9091"/>
            </a:avLst>
          </a:prstGeom>
          <a:solidFill>
            <a:srgbClr val="F0855A"/>
          </a:solidFill>
          <a:ln w="12700">
            <a:solidFill>
              <a:srgbClr val="F0855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71800" y="3328416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42232" y="3355848"/>
            <a:ext cx="1088136" cy="603504"/>
          </a:xfrm>
          <a:prstGeom prst="roundRect">
            <a:avLst>
              <a:gd name="adj" fmla="val 9091"/>
            </a:avLst>
          </a:prstGeom>
          <a:solidFill>
            <a:srgbClr val="F0855A"/>
          </a:solidFill>
          <a:ln w="12700">
            <a:solidFill>
              <a:srgbClr val="F0855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114800" y="3328416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R7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285232" y="3355848"/>
            <a:ext cx="1088136" cy="603504"/>
          </a:xfrm>
          <a:prstGeom prst="roundRect">
            <a:avLst>
              <a:gd name="adj" fmla="val 9091"/>
            </a:avLst>
          </a:prstGeom>
          <a:solidFill>
            <a:srgbClr val="C8902F"/>
          </a:solidFill>
          <a:ln w="12700">
            <a:solidFill>
              <a:srgbClr val="C8902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28232" y="3355848"/>
            <a:ext cx="1088136" cy="603504"/>
          </a:xfrm>
          <a:prstGeom prst="roundRect">
            <a:avLst>
              <a:gd name="adj" fmla="val 9091"/>
            </a:avLst>
          </a:prstGeom>
          <a:solidFill>
            <a:srgbClr val="C8902F"/>
          </a:solidFill>
          <a:ln w="12700">
            <a:solidFill>
              <a:srgbClr val="C8902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3986784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Rare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56232" y="4014216"/>
            <a:ext cx="1088136" cy="603504"/>
          </a:xfrm>
          <a:prstGeom prst="roundRect">
            <a:avLst>
              <a:gd name="adj" fmla="val 9091"/>
            </a:avLst>
          </a:prstGeom>
          <a:solidFill>
            <a:srgbClr val="F0855A"/>
          </a:solidFill>
          <a:ln w="12700">
            <a:solidFill>
              <a:srgbClr val="F0855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828800" y="3986784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R6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999232" y="4014216"/>
            <a:ext cx="1088136" cy="603504"/>
          </a:xfrm>
          <a:prstGeom prst="roundRect">
            <a:avLst>
              <a:gd name="adj" fmla="val 9091"/>
            </a:avLst>
          </a:prstGeom>
          <a:solidFill>
            <a:srgbClr val="C8902F"/>
          </a:solidFill>
          <a:ln w="12700">
            <a:solidFill>
              <a:srgbClr val="C8902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42232" y="4014216"/>
            <a:ext cx="1088136" cy="603504"/>
          </a:xfrm>
          <a:prstGeom prst="roundRect">
            <a:avLst>
              <a:gd name="adj" fmla="val 9091"/>
            </a:avLst>
          </a:prstGeom>
          <a:solidFill>
            <a:srgbClr val="C8902F"/>
          </a:solidFill>
          <a:ln w="12700">
            <a:solidFill>
              <a:srgbClr val="C8902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114800" y="3986784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R11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285232" y="4014216"/>
            <a:ext cx="1088136" cy="603504"/>
          </a:xfrm>
          <a:prstGeom prst="roundRect">
            <a:avLst>
              <a:gd name="adj" fmla="val 9091"/>
            </a:avLst>
          </a:prstGeom>
          <a:solidFill>
            <a:srgbClr val="34C77B"/>
          </a:solidFill>
          <a:ln w="12700">
            <a:solidFill>
              <a:srgbClr val="34C77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28232" y="4014216"/>
            <a:ext cx="1088136" cy="603504"/>
          </a:xfrm>
          <a:prstGeom prst="roundRect">
            <a:avLst>
              <a:gd name="adj" fmla="val 9091"/>
            </a:avLst>
          </a:prstGeom>
          <a:solidFill>
            <a:srgbClr val="34C77B"/>
          </a:solidFill>
          <a:ln w="12700">
            <a:solidFill>
              <a:srgbClr val="34C77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080" y="4645152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Improbable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856232" y="4672584"/>
            <a:ext cx="1088136" cy="603504"/>
          </a:xfrm>
          <a:prstGeom prst="roundRect">
            <a:avLst>
              <a:gd name="adj" fmla="val 9091"/>
            </a:avLst>
          </a:prstGeom>
          <a:solidFill>
            <a:srgbClr val="C8902F"/>
          </a:solidFill>
          <a:ln w="12700">
            <a:solidFill>
              <a:srgbClr val="C8902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99232" y="4672584"/>
            <a:ext cx="1088136" cy="603504"/>
          </a:xfrm>
          <a:prstGeom prst="roundRect">
            <a:avLst>
              <a:gd name="adj" fmla="val 9091"/>
            </a:avLst>
          </a:prstGeom>
          <a:solidFill>
            <a:srgbClr val="C8902F"/>
          </a:solidFill>
          <a:ln w="12700">
            <a:solidFill>
              <a:srgbClr val="C8902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42232" y="4672584"/>
            <a:ext cx="1088136" cy="603504"/>
          </a:xfrm>
          <a:prstGeom prst="roundRect">
            <a:avLst>
              <a:gd name="adj" fmla="val 9091"/>
            </a:avLst>
          </a:prstGeom>
          <a:solidFill>
            <a:srgbClr val="34C77B"/>
          </a:solidFill>
          <a:ln w="12700">
            <a:solidFill>
              <a:srgbClr val="34C77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85232" y="4672584"/>
            <a:ext cx="1088136" cy="603504"/>
          </a:xfrm>
          <a:prstGeom prst="roundRect">
            <a:avLst>
              <a:gd name="adj" fmla="val 9091"/>
            </a:avLst>
          </a:prstGeom>
          <a:solidFill>
            <a:srgbClr val="34C77B"/>
          </a:solidFill>
          <a:ln w="12700">
            <a:solidFill>
              <a:srgbClr val="34C77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28232" y="4672584"/>
            <a:ext cx="1088136" cy="603504"/>
          </a:xfrm>
          <a:prstGeom prst="roundRect">
            <a:avLst>
              <a:gd name="adj" fmla="val 9091"/>
            </a:avLst>
          </a:prstGeom>
          <a:solidFill>
            <a:srgbClr val="34C77B"/>
          </a:solidFill>
          <a:ln w="12700">
            <a:solidFill>
              <a:srgbClr val="34C77B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645920"/>
          <a:ext cx="38404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0175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Risque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R1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Financement d'amorçage non obtenu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Aucun lieu n'accepte de payer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R3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Rétention insuffisante des joueurs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 acteur installé copie la mécanique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R5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Départ d'un associé fondateur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R6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Sanction RGPD ou incident de données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R7 · R8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Tension composants · borne en retard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R9 · R10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Contributions déséquilibrées · périmètre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R11 · R12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Dépendance au Play Store · saisonnalité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1" name="Text 48"/>
          <p:cNvSpPr txBox="1"/>
          <p:nvPr/>
        </p:nvSpPr>
        <p:spPr>
          <a:xfrm>
            <a:off x="640080" y="5989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risque a un plan préventif et un plan correctif dans la charte de projet. Les trois suivants décident si l'entreprise existe.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rot="10800000">
            <a:off x="7132320" y="0"/>
            <a:ext cx="5059375" cy="6858000"/>
          </a:xfrm>
          <a:prstGeom prst="rtTriangl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8412480" y="3200400"/>
            <a:ext cx="3779215" cy="3657600"/>
          </a:xfrm>
          <a:prstGeom prst="rtTriangl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32720" y="51206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💸</a:t>
            </a:r>
            <a:endParaRPr lang="en-US" sz="5400" dirty="0"/>
          </a:p>
        </p:txBody>
      </p:sp>
      <p:pic>
        <p:nvPicPr>
          <p:cNvPr id="5" name="Image 0" descr="/home/thomas/Bureau/SAE/scubanion/docs/r501/assets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365760"/>
            <a:ext cx="1371600" cy="12527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8404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Gestion des risques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R1 · Le financement d'amorçage n'est pas obtenu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-274320" y="2377440"/>
            <a:ext cx="7863840" cy="2651760"/>
          </a:xfrm>
          <a:prstGeom prst="roundRect">
            <a:avLst>
              <a:gd name="adj" fmla="val 517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75120" y="2606040"/>
            <a:ext cx="1737360" cy="438912"/>
          </a:xfrm>
          <a:prstGeom prst="roundRect">
            <a:avLst>
              <a:gd name="adj" fmla="val 37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75120" y="26060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CRITIQUE · IV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606040"/>
            <a:ext cx="5852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Candidater à plusieurs dispositifs en parallèle dès janvier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Entrer en incubateur pour gagner en crédibilité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Signer deux contrats avant de démarcher un financeur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Sinon : autofinancement à parc réduit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rot="10800000">
            <a:off x="7132320" y="0"/>
            <a:ext cx="5059375" cy="6858000"/>
          </a:xfrm>
          <a:prstGeom prst="rtTriangl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8412480" y="3200400"/>
            <a:ext cx="3779215" cy="3657600"/>
          </a:xfrm>
          <a:prstGeom prst="rtTriangl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32720" y="51206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🏪</a:t>
            </a:r>
            <a:endParaRPr lang="en-US" sz="5400" dirty="0"/>
          </a:p>
        </p:txBody>
      </p:sp>
      <p:pic>
        <p:nvPicPr>
          <p:cNvPr id="5" name="Image 0" descr="/home/thomas/Bureau/SAE/scubanion/docs/r501/assets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365760"/>
            <a:ext cx="1371600" cy="12527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8404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Gestion des risques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R2 · Aucun lieu n'accepte de payer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-274320" y="2377440"/>
            <a:ext cx="7863840" cy="2651760"/>
          </a:xfrm>
          <a:prstGeom prst="roundRect">
            <a:avLst>
              <a:gd name="adj" fmla="val 517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75120" y="2606040"/>
            <a:ext cx="1737360" cy="438912"/>
          </a:xfrm>
          <a:prstGeom prst="roundRect">
            <a:avLst>
              <a:gd name="adj" fmla="val 37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75120" y="26060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CRITIQUE · IV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606040"/>
            <a:ext cx="5852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Pilote gratuit d'un mois, puis facturation sur chiffres réels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Part variable au passage vérifié : le risque passe chez nous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Sinon : la collectivité achète le parcours et équipe les lieux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rot="10800000">
            <a:off x="7132320" y="0"/>
            <a:ext cx="5059375" cy="6858000"/>
          </a:xfrm>
          <a:prstGeom prst="rtTriangl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8412480" y="3200400"/>
            <a:ext cx="3779215" cy="3657600"/>
          </a:xfrm>
          <a:prstGeom prst="rtTriangl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32720" y="51206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📉</a:t>
            </a:r>
            <a:endParaRPr lang="en-US" sz="5400" dirty="0"/>
          </a:p>
        </p:txBody>
      </p:sp>
      <p:pic>
        <p:nvPicPr>
          <p:cNvPr id="5" name="Image 0" descr="/home/thomas/Bureau/SAE/scubanion/docs/r501/assets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365760"/>
            <a:ext cx="1371600" cy="12527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8404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Gestion des risques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R3 · Les joueurs ne restent pas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-274320" y="2377440"/>
            <a:ext cx="7863840" cy="2651760"/>
          </a:xfrm>
          <a:prstGeom prst="roundRect">
            <a:avLst>
              <a:gd name="adj" fmla="val 517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75120" y="2606040"/>
            <a:ext cx="1737360" cy="438912"/>
          </a:xfrm>
          <a:prstGeom prst="roundRect">
            <a:avLst>
              <a:gd name="adj" fmla="val 37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75120" y="26060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CRITIQUE · IV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606040"/>
            <a:ext cx="5852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Mesurer la rétention à 30 jours dès le pilote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Guildes de quartier, exclusivités qui obligent à revenir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Quêtes d'intérieur l'hiver contre la saisonnalité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Sinon : B2B pur, parcours vendus aux collectivités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108960" cy="3108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325880"/>
            <a:ext cx="3840480" cy="384048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👩‍🎓</a:t>
            </a:r>
            <a:endParaRPr lang="en-US" sz="11000" dirty="0"/>
          </a:p>
        </p:txBody>
      </p:sp>
      <p:sp>
        <p:nvSpPr>
          <p:cNvPr id="5" name="Shape 3"/>
          <p:cNvSpPr/>
          <p:nvPr/>
        </p:nvSpPr>
        <p:spPr>
          <a:xfrm>
            <a:off x="5486400" y="1188720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1887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Cible #1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6459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Léa, 20 ans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24231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L'étudiante sédentarisée, Paris 13e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3154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31546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2e année de BUT, studio CROUS, 650 €/mois dont ≈ 40 € de loisirs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3703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ACTIVITÉ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37033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3 500 pas par jour, 5 h d'écran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4251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FREIN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42519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Je connais personne et j'ai pas le budget »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4800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DÉCLENCHEUR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48006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 amies y jouent : elle rejoint la guilde du 13e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80015" y="4846320"/>
            <a:ext cx="3108960" cy="3108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1325880"/>
            <a:ext cx="3840480" cy="384048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680960" y="1325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👨‍💻</a:t>
            </a:r>
            <a:endParaRPr lang="en-US" sz="110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Cible #2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459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Yanis, 27 ans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231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 jeune actif en télétravail, Montreuil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54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31546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Développeur, trois jours de télétravail, 2 400 €/mois net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703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ACTIVITÉ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37033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4 000 pas en télétravail, 11 000 les jours de bureau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251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FREIN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42519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Abonné à une salle qu'il ne fréquente plus : il décroche vite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800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DÉCLENCHEUR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194560" y="48006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série de jours consécutifs et le classement du quartier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108960" cy="3108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325880"/>
            <a:ext cx="3840480" cy="384048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👨‍👩‍👧</a:t>
            </a:r>
            <a:endParaRPr lang="en-US" sz="11000" dirty="0"/>
          </a:p>
        </p:txBody>
      </p:sp>
      <p:sp>
        <p:nvSpPr>
          <p:cNvPr id="5" name="Shape 3"/>
          <p:cNvSpPr/>
          <p:nvPr/>
        </p:nvSpPr>
        <p:spPr>
          <a:xfrm>
            <a:off x="5486400" y="1188720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1887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Cible #3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6459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Camille, 34 ans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24231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 parent en quête de sorties, Vincennes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3154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31546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couple, deux enfants de 6 et 9 ans, foyer à 4 200 €/mois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3703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ACTIVITÉ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37033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7 000 pas par jour, essentiellement contraints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4251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FREIN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42519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Le samedi, c'est moi qui dois trouver l'idée, chaque semaine »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4800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DÉCLENCHEUR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48006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quêtes familiales et les bornes des parcs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Public cible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Paris intra-muros, pilote dans le 11e et le 19e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Attentes communes :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raison de sortir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gratuite, qui ne culpabilise pas.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4846320" cy="1554480"/>
          </a:xfrm>
          <a:prstGeom prst="roundRect">
            <a:avLst>
              <a:gd name="adj" fmla="val 8824"/>
            </a:avLst>
          </a:prstGeom>
          <a:solidFill>
            <a:srgbClr val="EAF3F5"/>
          </a:solidFill>
          <a:ln w="9525">
            <a:solidFill>
              <a:srgbClr val="DCEB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10896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 côté payeurs, quatre segments B2B 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lieux à billetterie, commerces de proximité, collectivités et offices de tourisme, employeurs et mutuelles.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852160" y="1554480"/>
          <a:ext cx="57607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0080" y="5989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Répartition visée des joueurs au lancement : hypothèse de travail, à vérifier sur les 100 premiers testeurs.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Où promouvoir Scubanion 📍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Sur le terrain : la borne et le quartier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La borne, notre panneau d'affichage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Allumée, visible depuis la rue, avec un QR code : du passant au joueur en trois secondes.</a:t>
            </a:r>
            <a:endParaRPr lang="en-US" sz="1200" dirty="0"/>
          </a:p>
        </p:txBody>
      </p:sp>
      <p:pic>
        <p:nvPicPr>
          <p:cNvPr id="6" name="Image 0" descr="/home/thomas/Bureau/SAE/scubanion/docs/r501/assets/images/story-musee-2-pose-nf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560320"/>
            <a:ext cx="5303520" cy="3200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Presse locale et mairies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9659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L'angle « des étudiants contre la sédentarité » est un sujet local tout trouvé.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0" y="2560320"/>
            <a:ext cx="5120640" cy="1463040"/>
          </a:xfrm>
          <a:prstGeom prst="roundRect">
            <a:avLst>
              <a:gd name="adj" fmla="val 9375"/>
            </a:avLst>
          </a:prstGeom>
          <a:solidFill>
            <a:srgbClr val="EAF3F5"/>
          </a:solidFill>
          <a:ln w="9525">
            <a:solidFill>
              <a:srgbClr val="DCEB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29400" y="26974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📰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269748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Presse régionale et médias de quartier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relais de l'IUT sur les projets étudiants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0" y="4206240"/>
            <a:ext cx="5120640" cy="1463040"/>
          </a:xfrm>
          <a:prstGeom prst="roundRect">
            <a:avLst>
              <a:gd name="adj" fmla="val 9375"/>
            </a:avLst>
          </a:prstGeom>
          <a:solidFill>
            <a:srgbClr val="EAF3F5"/>
          </a:solidFill>
          <a:ln w="9525">
            <a:solidFill>
              <a:srgbClr val="DCEB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629400" y="4343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🏛️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7360920" y="434340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Mairies du 11e et du 19e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des sports et de la santé : relais institutionnel et crédibilité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989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publicitaire : 0 €. Toute la communication passe par les relations publiques, le marketing direct, le viral et les partenariats.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Où promouvoir Scubanion 📲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Réseaux sociaux : le compagnon est le média</a:t>
            </a:r>
            <a:endParaRPr lang="en-US" sz="1500" dirty="0"/>
          </a:p>
        </p:txBody>
      </p:sp>
      <p:pic>
        <p:nvPicPr>
          <p:cNvPr id="4" name="Image 0" descr="/home/thomas/Bureau/SAE/scubanion/docs/r501/assets/images/story-musee-4-bul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45920"/>
            <a:ext cx="640080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06640" y="1645920"/>
            <a:ext cx="4114800" cy="1280160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635240" y="175564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🎬 Le moment partageable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récompense qui sort de l'œuvre : le plan que le joueur filme et publie.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406640" y="3108960"/>
            <a:ext cx="4114800" cy="1280160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635240" y="321868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🎵 TikTok et Instagram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Tenus par le compagnon. Nos deux films de 15 s en sont le premier contenu.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06640" y="4572000"/>
            <a:ext cx="4114800" cy="1280160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635240" y="468172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🤝 Invitation par code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Bonus partagé à la première rencontre : chaque joueur recrute ses voisins.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Où promouvoir Scubanion 🎉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Événements et partenariats, au rythme des saisons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331720" cy="1920240"/>
          </a:xfrm>
          <a:prstGeom prst="roundRect">
            <a:avLst>
              <a:gd name="adj" fmla="val 7143"/>
            </a:avLst>
          </a:prstGeom>
          <a:solidFill>
            <a:srgbClr val="EAF3F5"/>
          </a:solidFill>
          <a:ln w="9525">
            <a:solidFill>
              <a:srgbClr val="DCEB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🎓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BDE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campus, notre premier noyau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54680" y="1691640"/>
            <a:ext cx="2331720" cy="1920240"/>
          </a:xfrm>
          <a:prstGeom prst="roundRect">
            <a:avLst>
              <a:gd name="adj" fmla="val 7143"/>
            </a:avLst>
          </a:prstGeom>
          <a:solidFill>
            <a:srgbClr val="EAF3F5"/>
          </a:solidFill>
          <a:ln w="9525">
            <a:solidFill>
              <a:srgbClr val="DCEB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54680" y="1874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🏃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5146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Clubs de running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défi hebdo à leur nom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2331720" cy="1920240"/>
          </a:xfrm>
          <a:prstGeom prst="roundRect">
            <a:avLst>
              <a:gd name="adj" fmla="val 7143"/>
            </a:avLst>
          </a:prstGeom>
          <a:solidFill>
            <a:srgbClr val="EAF3F5"/>
          </a:solidFill>
          <a:ln w="9525">
            <a:solidFill>
              <a:srgbClr val="DCEB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977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🌙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6177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Nuit Blanche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borne éphémère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54680" y="3794760"/>
            <a:ext cx="2331720" cy="1920240"/>
          </a:xfrm>
          <a:prstGeom prst="roundRect">
            <a:avLst>
              <a:gd name="adj" fmla="val 7143"/>
            </a:avLst>
          </a:prstGeom>
          <a:solidFill>
            <a:srgbClr val="EAF3F5"/>
          </a:solidFill>
          <a:ln w="9525">
            <a:solidFill>
              <a:srgbClr val="DCEB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54680" y="3977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🎶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46177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Fêtes de quartier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Brocantes, fête de la musique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691640"/>
          <a:ext cx="55778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960120"/>
                <a:gridCol w="3200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Période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Activité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 que nous faisons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Septembre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6B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Pic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Rentrée : fenêtre d'acquisition principale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Nov. → févr.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452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Creux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Quêtes d'intérieur : musées, librairies, cafés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Janvier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6B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Pic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Bonnes résolutions : reconquête des inactifs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Printemps, été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6B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Pic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Événements, bornes éphémères, parcours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Objectif : des joueurs qui restent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 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301752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430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Rétention à 30 jours ≥ 25 %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94760" y="1143000"/>
            <a:ext cx="365760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94760" y="11430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5 000 joueurs actifs mensuels fin 2027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Quels sont nos points de comparaison ?</a:t>
            </a:r>
            <a:endParaRPr lang="en-US" sz="16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2286000"/>
          <a:ext cx="10881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40080" y="51663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des joueurs encore actifs 30 jours après l'inscription.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l'hypothèse centrale du modèle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un compagnon retient mieux qu'une courbe.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989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Ordres de grandeur couramment cités pour le secteur, à sourcer précisément. Notre cible vient du critère de sortie de l'objectif O1 de la charte.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Objectif : des joueurs qui restent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 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301752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430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Rétention à 30 jours ≥ 25 %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94760" y="1143000"/>
            <a:ext cx="365760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94760" y="11430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5 000 joueurs actifs mensuels fin 2027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Neuf entretiens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sur le terrain…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32688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…qui ont changé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 produit !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108960" y="1828800"/>
            <a:ext cx="5943600" cy="1188720"/>
          </a:xfrm>
          <a:prstGeom prst="roundRect">
            <a:avLst>
              <a:gd name="adj" fmla="val 1153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337560" y="193852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personnes sur 9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ignoraient leur nombre de pas : le podomètre n'était pas activé.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Activation guidée du podomètre dès l'inscription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08960" y="3200400"/>
            <a:ext cx="5943600" cy="1188720"/>
          </a:xfrm>
          <a:prstGeom prst="roundRect">
            <a:avLst>
              <a:gd name="adj" fmla="val 1153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337560" y="331012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interrogé a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contesté la question du prix plancher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un objet décoratif ne fait pas douter de la qualité.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Méthode adaptée, limite écrite dans le livrable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08960" y="4572000"/>
            <a:ext cx="5943600" cy="1188720"/>
          </a:xfrm>
          <a:prstGeom prst="roundRect">
            <a:avLst>
              <a:gd name="adj" fmla="val 1153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337560" y="468172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seul prix cité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spontanément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avant de voir l'échelle :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1,99 €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Prix retenu, confirmé par 7 personnes sur 8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Objectif : des joueurs qui restent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 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301752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430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Rétention à 30 jours ≥ 25 %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94760" y="1143000"/>
            <a:ext cx="365760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94760" y="11430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5 000 joueurs actifs mensuels fin 2027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Mesure mensuelle, par cohorte d'inscription, dès les premiers testeurs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1088136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64008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Février 2027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0" y="3154680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6576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100 testeurs sur le campus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courbe J7 · J14 · J30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Juin 2027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3154680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74720" y="36576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Pilote sur 10 lieux parisiens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premiers passages facturés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Décembre 2027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0" y="3154680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36576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Lancement commercial à Paris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5 000 joueurs actifs visés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Chaque trimestre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058400" y="3154680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0" y="36576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Enquête de satisfaction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 bilan avec chaque partenaire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Comment rejoindre Scubanion ?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Via Google Play, ou en passant devant une borne partenaire</a:t>
            </a:r>
            <a:endParaRPr lang="en-US" sz="1500" dirty="0"/>
          </a:p>
        </p:txBody>
      </p:sp>
      <p:pic>
        <p:nvPicPr>
          <p:cNvPr id="4" name="Image 0" descr="/home/thomas/Bureau/SAE/scubanion/docs/r501/assets/images/maquette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2070005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63240" y="2651760"/>
            <a:ext cx="1828800" cy="182880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3063240" y="2651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QR code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de la borne</a:t>
            </a:r>
            <a:endParaRPr lang="en-US" sz="1200" dirty="0"/>
          </a:p>
        </p:txBody>
      </p:sp>
      <p:pic>
        <p:nvPicPr>
          <p:cNvPr id="7" name="Image 1" descr="/home/thomas/Bureau/SAE/scubanion/docs/r501/assets/image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566160"/>
            <a:ext cx="640080" cy="585216"/>
          </a:xfrm>
          <a:prstGeom prst="rect">
            <a:avLst/>
          </a:prstGeom>
        </p:spPr>
      </p:pic>
      <p:pic>
        <p:nvPicPr>
          <p:cNvPr id="8" name="Image 2" descr="/home/thomas/Bureau/SAE/scubanion/docs/r501/assets/images/story-tratt-3-chargemen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03520" y="1645920"/>
            <a:ext cx="6217920" cy="27432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303520" y="457200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Téléchargement gratuit,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aucune carte à saisir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Compagnon et ambition choisis en moins de deux minutes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borne s'essaie sans compte, juste pour voir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DES OFFRES ADAPTÉES À CHAQUE CLIENT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NOS FORMULES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103120" cy="3840480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BIEN-ÊTRE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Employeurs, mutuelles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2608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Défis entre services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Classement interne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 agrégé, anonymisé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Dès 50 bénéficiaires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5029200"/>
            <a:ext cx="173736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029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3 €/mois/pers.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52928" y="1920240"/>
            <a:ext cx="2103120" cy="3840480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52928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BORNE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852928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Musées, salles, commerces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990088" y="292608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Borne fournie, installée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Dépannée sous 72 h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Tableau de bord des passages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Formation de 30 min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35808" y="5029200"/>
            <a:ext cx="173736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35808" y="5029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49 €/mois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65776" y="1691640"/>
            <a:ext cx="2103120" cy="4297680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31750">
            <a:solidFill>
              <a:srgbClr val="F0855A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065776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JOUEUR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065776" y="2286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18-30 ans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202936" y="269748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Compagnon, quêtes, carte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Amis, guildes, rencontres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Bornes et objets exclusifs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Skins en option à 1,99 €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 pub, ni XP payante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48656" y="5257800"/>
            <a:ext cx="173736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48656" y="5257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0 €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78624" y="1920240"/>
            <a:ext cx="2103120" cy="3840480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278624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QUÊTE SPONSO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278624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Commerces de proximité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415784" y="292608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Campagne de 2 semaines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Paiement au visiteur venu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Passage vérifié en borne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61504" y="5029200"/>
            <a:ext cx="173736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61504" y="5029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300 € + 0,50 €/passage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491472" y="1920240"/>
            <a:ext cx="2103120" cy="3840480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491472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PARCOURS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491472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Collectivités, tourisme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9628632" y="292608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Parcours de découverte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Lieux gratuits valorisés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Budgets sport, santé, tourisme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674352" y="5029200"/>
            <a:ext cx="173736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74352" y="5029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3 000 à 8 000 €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 prix n'a pas été décidé en réunion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Méthode Toolbox Persona : neuf entretiens, dix niveaux de prix, deux questions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69494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5321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Personnes de la cible (sur 8) pour qui le prix d'un skin est acceptable. Au-delà de 4,99 €, le marché disparaît.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046720" y="1737360"/>
            <a:ext cx="3474720" cy="192024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0" y="18745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1,99 €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6974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prix retenu pour un skin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zone d'unanimité : 0,99 à 1,49 €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046720" y="3886200"/>
            <a:ext cx="3474720" cy="1554480"/>
          </a:xfrm>
          <a:prstGeom prst="roundRect">
            <a:avLst>
              <a:gd name="adj" fmla="val 8824"/>
            </a:avLst>
          </a:prstGeom>
          <a:solidFill>
            <a:srgbClr val="EAF3F5"/>
          </a:solidFill>
          <a:ln w="9525">
            <a:solidFill>
              <a:srgbClr val="DCEB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75320" y="40233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acheteurs à 1,99 €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rapportent 17 % de plus que 8 acheteurs à 1,49 €, qui devient le prix des remises.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FINANCEMENTS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Amorçage : 150 000 € avant le 30/09/2027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822960" cy="822960"/>
          </a:xfrm>
          <a:prstGeom prst="ellipse">
            <a:avLst/>
          </a:prstGeom>
          <a:solidFill>
            <a:srgbClr val="EAF3F5"/>
          </a:solidFill>
          <a:ln w="19050">
            <a:solidFill>
              <a:srgbClr val="2F6B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🏦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SUBVENTION BPIFRANCE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4231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Bourse French Tech Émergence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30 000 €, non remboursable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822960" cy="822960"/>
          </a:xfrm>
          <a:prstGeom prst="ellipse">
            <a:avLst/>
          </a:prstGeom>
          <a:solidFill>
            <a:srgbClr val="EAF3F5"/>
          </a:solidFill>
          <a:ln w="19050">
            <a:solidFill>
              <a:srgbClr val="2F6B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🤝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PRÊTS D'HONNEUR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24231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Réseaux d'aide à la création, taux zéro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40 000 €, portés par les associés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822960" cy="822960"/>
          </a:xfrm>
          <a:prstGeom prst="ellipse">
            <a:avLst/>
          </a:prstGeom>
          <a:solidFill>
            <a:srgbClr val="EAF3F5"/>
          </a:solidFill>
          <a:ln w="19050">
            <a:solidFill>
              <a:srgbClr val="2F6B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749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💶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749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PRÊT BANCAIRE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43434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Adossé aux prêts d'honneur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50 000 € sur cinq ans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3749040"/>
            <a:ext cx="822960" cy="822960"/>
          </a:xfrm>
          <a:prstGeom prst="ellipse">
            <a:avLst/>
          </a:prstGeom>
          <a:solidFill>
            <a:srgbClr val="EAF3F5"/>
          </a:solidFill>
          <a:ln w="19050">
            <a:solidFill>
              <a:srgbClr val="2F6B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97680" y="3749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🚀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3749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BUSINESS ANGELS ET CONCOURS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43434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 l'incubateur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30 000 €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1828800"/>
            <a:ext cx="3291840" cy="329184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458200" y="1965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À QUOI ILS SERVENT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246888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deux premiers salaires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parc de 40 bornes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budget d'acquisition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Règle : deux contrats signés avant de lever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989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de financement visé, à valider avec un expert-comptable à la création de la société (action A8).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REVENUS DU PROJET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En régime de croisière, à 40 lieux équipés</a:t>
            </a:r>
            <a:endParaRPr lang="en-US" sz="15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6766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10972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Source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Base de calcul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 / an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Abonnements bornes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40 bornes × 49 € × 12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23 520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Parcours de découverte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 parcours × 5 000 €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15 000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A3A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Quêtes sponsorisées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 × 300 € + 10 320 passages × 0,50 €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12 360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FB9C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Programme bien-être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170 bénéficiaires × 3 € × 12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6 120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855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Cosmétiques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25 000 comptes × 3 % × 4 €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3 000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dont 85 % lieux et collectivités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60 000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7680960" y="1463040"/>
          <a:ext cx="38404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315200" y="50749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TOTAL : 60 000 €/an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5989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O2 de la charte : 5 000 € de revenu mensuel récurrent, dont au moins 85 % issus du B2B. Grille B2B encore jamais confrontée à un acheteur.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COÛTS DU PROJET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Année 2, lancement commercial</a:t>
            </a:r>
            <a:endParaRPr lang="en-US" sz="15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6766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10972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Détail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Masse salariale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 associés + 2 salariés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95 000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Acquisition, marketing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contenu, événements, salons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15 000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A3A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Locaux, frais généraux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bureau partagé, stockage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6 000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FB9C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Juridique, conformité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marque, RGPD, assurances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4 000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855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Parc de bornes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40 bornes à 90 €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3 600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CEB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Infrastructure, outils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serveur, broker MQTT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3 000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126 600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7680960" y="1463040"/>
          <a:ext cx="38404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315200" y="50749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TOTAL : ≈ 127 000 €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5989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Chiffres de cadrage de la charte de projet, construits sur des coûts publics. La charge est à 75 % salariale : le matériel pèse moins de 3 %.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COÛTS SUR TROIS ANS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Humain et matériel, de l'amorçage à la croissance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377440" y="1737360"/>
            <a:ext cx="1828800" cy="457200"/>
          </a:xfrm>
          <a:prstGeom prst="roundRect">
            <a:avLst>
              <a:gd name="adj" fmla="val 3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7744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Humain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An 1 : 140 000 € en apport en industrie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An 2 : 95 000 € · 4 associés + 2 salariés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An 3 : 230 000 € · 4 associés + 5 salariés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5349240" cy="1097280"/>
          </a:xfrm>
          <a:prstGeom prst="roundRect">
            <a:avLst>
              <a:gd name="adj" fmla="val 12500"/>
            </a:avLst>
          </a:prstGeom>
          <a:solidFill>
            <a:srgbClr val="EAF3F5"/>
          </a:solidFill>
          <a:ln w="9525">
            <a:solidFill>
              <a:srgbClr val="DCEB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7947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Fondateurs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 rémunérés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jusqu'à l'amorçage : la première année ne coûte que du temps.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09560" y="1737360"/>
            <a:ext cx="1828800" cy="457200"/>
          </a:xfrm>
          <a:prstGeom prst="roundRect">
            <a:avLst>
              <a:gd name="adj" fmla="val 3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0956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Matériel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377440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Borne prototype : ≈ 80 € de composants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Borne en petite série : moins de 90 €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Parc : 10, puis 40, puis 150 bornes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72200" y="3703320"/>
            <a:ext cx="5349240" cy="1097280"/>
          </a:xfrm>
          <a:prstGeom prst="roundRect">
            <a:avLst>
              <a:gd name="adj" fmla="val 12500"/>
            </a:avLst>
          </a:prstGeom>
          <a:solidFill>
            <a:srgbClr val="EAF3F5"/>
          </a:solidFill>
          <a:ln w="9525">
            <a:solidFill>
              <a:srgbClr val="DCEB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37947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borne à 90 €, louée 49 € par mois, est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amortie en deux mois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Le temps commercial est le vrai coût.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120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Dépense de trésorerie sur 3 ans : </a:t>
            </a:r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≈ 448 000 €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Nos parties prenantes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Matrice pouvoir × intérêt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88720" y="1645920"/>
            <a:ext cx="0" cy="420624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headEnd type="triangle"/>
          </a:ln>
        </p:spPr>
      </p:sp>
      <p:sp>
        <p:nvSpPr>
          <p:cNvPr id="5" name="Shape 3"/>
          <p:cNvSpPr/>
          <p:nvPr/>
        </p:nvSpPr>
        <p:spPr>
          <a:xfrm>
            <a:off x="1188720" y="5852160"/>
            <a:ext cx="1033272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355080" y="1737360"/>
            <a:ext cx="0" cy="402336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280160" y="3749040"/>
            <a:ext cx="1014984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320040" y="3566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Pouvoir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424160" y="5897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Intérêt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83180" y="1828800"/>
            <a:ext cx="237744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83180" y="18288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GARDER SATISFAIT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33172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CNIL  ·  Google Play  ·  INPI  ·  Fournisseurs de composants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49540" y="1828800"/>
            <a:ext cx="237744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49540" y="18288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GÉRER DE PRÈS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233172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Lieux partenaires  ·  Ville de Paris  ·  Mairies du 11e et du 19e  ·  Financeurs, incubateur  ·  Encadrement de l'IUT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583180" y="3931920"/>
            <a:ext cx="237744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583180" y="39319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SURVEILLER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43484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Hébergeur, broker MQTT  ·  Jeux géolocalisés  ·  Applis de suivi d'activité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49540" y="3931920"/>
            <a:ext cx="237744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49540" y="39319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MAINTENIR INFORMÉ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443484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Joueurs 18-30 ans  ·  Testeurs du campus  ·  BDE  ·  Clubs de running  ·  Mutuelles étudiantes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Dix actions, un responsable, une échéance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Une action sans responsable n'est jamais faite</a:t>
            </a:r>
            <a:endParaRPr lang="en-US" sz="15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3566160"/>
                <a:gridCol w="1645920"/>
                <a:gridCol w="137160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Livrable vérifiable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Responsable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Échéance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A1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Choisir le microcontrôleur et commander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Décision écrite, bon de commande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Shaleena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17/10/26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A2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Démarcher les dix premiers lieux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rendez-vous, 2 lettres d'intention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Evan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29/11/26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A3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Prototype de borne NFC + MQTT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 passage de bout en bout filmé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Shaleena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14/11/26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A4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Chaîne de déploiement complète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 déploiement vert, sans intervention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Thomas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08/11/26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A5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Livrer le jalon zéro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 exigences, version v1.0.0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Toute l'équipe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12/12/26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A6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Recruter 100 testeurs sur le campus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Courbe de rétention J7, J14, J30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Evan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28/02/27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A7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Marque INPI et pacte d'associés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Dépôt enregistré, pacte signé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Hamza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31/01/27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A8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Dossier de financement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Trois dossiers déposés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Thomas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31/03/27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A9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Installer les dix bornes du pilote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bornes en service et facturées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Shaleena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31/05/27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3A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A10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Immatriculer la société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Deux contrats annuels signés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Hamza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C6B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30/06/27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989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d'équipe de 30 minutes chaque vendredi : indicateurs, « fait / en cours / bloqué », et une décision.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Roadmap Scubanion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De la preuve de concept à la croissance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0"/>
            <a:ext cx="1088136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1691640" cy="3429000"/>
          </a:xfrm>
          <a:prstGeom prst="roundRect">
            <a:avLst>
              <a:gd name="adj" fmla="val 8108"/>
            </a:avLst>
          </a:prstGeom>
          <a:solidFill>
            <a:srgbClr val="EAF3F5"/>
          </a:solidFill>
          <a:ln w="9525">
            <a:solidFill>
              <a:srgbClr val="DCEB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0140" y="178308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DCEBEE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201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🧭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PHASE 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834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Cadrage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4747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Idéation, équipe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 Canvas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Charte, cahier des charges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367028" y="5367528"/>
            <a:ext cx="237744" cy="23774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5669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sept.-oct. 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9736" y="1645920"/>
            <a:ext cx="1691640" cy="3429000"/>
          </a:xfrm>
          <a:prstGeom prst="roundRect">
            <a:avLst>
              <a:gd name="adj" fmla="val 8108"/>
            </a:avLst>
          </a:prstGeom>
          <a:solidFill>
            <a:srgbClr val="EAF3F5"/>
          </a:solidFill>
          <a:ln w="9525">
            <a:solidFill>
              <a:srgbClr val="DCEB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39796" y="178308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DCEBEE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939796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🛠️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459736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PHASE 2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2505456" y="2834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Preuve de concept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569464" y="34747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App, serveur, borne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Chaîne CI/CD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Jalon zéro le 12/12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86684" y="5367528"/>
            <a:ext cx="237744" cy="23774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59736" y="5669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oct.-déc. 26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79392" y="1645920"/>
            <a:ext cx="1691640" cy="3429000"/>
          </a:xfrm>
          <a:prstGeom prst="roundRect">
            <a:avLst>
              <a:gd name="adj" fmla="val 8108"/>
            </a:avLst>
          </a:prstGeom>
          <a:solidFill>
            <a:srgbClr val="EAF3F5"/>
          </a:solidFill>
          <a:ln w="9525">
            <a:solidFill>
              <a:srgbClr val="DCEB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9452" y="178308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DCEBEE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759452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📑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279392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PHASE 3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325112" y="2834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34747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Marque et pacte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Dossier de financement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testeurs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06340" y="5367528"/>
            <a:ext cx="237744" cy="23774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79392" y="5669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janv.-mars 27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99048" y="1645920"/>
            <a:ext cx="1691640" cy="3429000"/>
          </a:xfrm>
          <a:prstGeom prst="roundRect">
            <a:avLst>
              <a:gd name="adj" fmla="val 8108"/>
            </a:avLst>
          </a:prstGeom>
          <a:solidFill>
            <a:srgbClr val="EAF3F5"/>
          </a:solidFill>
          <a:ln w="9525">
            <a:solidFill>
              <a:srgbClr val="DCEB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9108" y="178308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DCEBEE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579108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📍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099048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PHASE 4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144768" y="2834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Pilote terrain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208776" y="34747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bornes, 11e et 19e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Société immatriculée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contrats payants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825996" y="5367528"/>
            <a:ext cx="237744" cy="23774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099048" y="5669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avr.-juin 27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918704" y="1645920"/>
            <a:ext cx="1691640" cy="3429000"/>
          </a:xfrm>
          <a:prstGeom prst="roundRect">
            <a:avLst>
              <a:gd name="adj" fmla="val 8108"/>
            </a:avLst>
          </a:prstGeom>
          <a:solidFill>
            <a:srgbClr val="EAF3F5"/>
          </a:solidFill>
          <a:ln w="9525">
            <a:solidFill>
              <a:srgbClr val="DCEB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98764" y="178308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DCEBEE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8398764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🚀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7918704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PHASE 5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964424" y="2834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Lancement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8028432" y="34747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Amorçage bouclé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recrutements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lieux à Paris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645652" y="5367528"/>
            <a:ext cx="237744" cy="23774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918704" y="5669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juil.-déc. 27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738360" y="1645920"/>
            <a:ext cx="1691640" cy="3429000"/>
          </a:xfrm>
          <a:prstGeom prst="roundRect">
            <a:avLst>
              <a:gd name="adj" fmla="val 8108"/>
            </a:avLst>
          </a:prstGeom>
          <a:solidFill>
            <a:srgbClr val="EAF3F5"/>
          </a:solidFill>
          <a:ln w="9525">
            <a:solidFill>
              <a:srgbClr val="DCEB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218420" y="178308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DCEBEE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1021842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📈</a:t>
            </a:r>
            <a:endParaRPr lang="en-US" sz="1800" dirty="0"/>
          </a:p>
        </p:txBody>
      </p:sp>
      <p:sp>
        <p:nvSpPr>
          <p:cNvPr id="48" name="Text 46"/>
          <p:cNvSpPr txBox="1"/>
          <p:nvPr/>
        </p:nvSpPr>
        <p:spPr>
          <a:xfrm>
            <a:off x="973836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PHASE 6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784080" y="2834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Croissance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9848088" y="34747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 bornes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Seuil de rentabilité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Poursuivre ou lever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0465308" y="5367528"/>
            <a:ext cx="237744" cy="23774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738360" y="5669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2028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Six indicateurs pour piloter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Chacun répond à « si ça décroche, qu'est-ce que je fais ? »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02152" cy="2011680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16352" y="1810512"/>
            <a:ext cx="1097280" cy="292608"/>
          </a:xfrm>
          <a:prstGeom prst="roundRect">
            <a:avLst>
              <a:gd name="adj" fmla="val 562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16352" y="1810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Entreprise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9456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Joueurs actifs mensuels</a:t>
            </a:r>
            <a:endParaRPr lang="en-US" sz="13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5 000 fin 2027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71800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ça décroche : 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arrête d'ajouter des fonctions et on va voir les joueurs perdus.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5112" y="1645920"/>
            <a:ext cx="3502152" cy="2011680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53712" y="1783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01384" y="1810512"/>
            <a:ext cx="1097280" cy="292608"/>
          </a:xfrm>
          <a:prstGeom prst="roundRect">
            <a:avLst>
              <a:gd name="adj" fmla="val 562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01384" y="1810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Entreprise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53712" y="219456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Rétention à 30 jours</a:t>
            </a:r>
            <a:endParaRPr lang="en-US" sz="13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≥ 25 %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53712" y="2971800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ça décroche : 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révise l'attachement avant toute dépense d'acquisition.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10144" y="1645920"/>
            <a:ext cx="3502152" cy="2011680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38744" y="1783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186416" y="1810512"/>
            <a:ext cx="1097280" cy="292608"/>
          </a:xfrm>
          <a:prstGeom prst="roundRect">
            <a:avLst>
              <a:gd name="adj" fmla="val 562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86416" y="1810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Entreprise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238744" y="219456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 récurrent</a:t>
            </a:r>
            <a:endParaRPr lang="en-US" sz="13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5 000 €/mois · 40 lieux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38744" y="2971800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ça décroche : 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passe par la collectivité qui équipe les lieux.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840480"/>
            <a:ext cx="3502152" cy="2011680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68680" y="3977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816352" y="4005072"/>
            <a:ext cx="1097280" cy="292608"/>
          </a:xfrm>
          <a:prstGeom prst="roundRect">
            <a:avLst>
              <a:gd name="adj" fmla="val 56250"/>
            </a:avLst>
          </a:prstGeom>
          <a:solidFill>
            <a:srgbClr val="E4F4EA"/>
          </a:solidFill>
          <a:ln w="12700">
            <a:solidFill>
              <a:srgbClr val="E4F4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816352" y="40050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6B3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Exécution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438912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Exigences essentielles</a:t>
            </a:r>
            <a:endParaRPr lang="en-US" sz="13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18 au 05/12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5166360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ça décroche : 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coupe des Should et des Could, et on l'écrit.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25112" y="3840480"/>
            <a:ext cx="3502152" cy="2011680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553712" y="3977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501384" y="4005072"/>
            <a:ext cx="1097280" cy="292608"/>
          </a:xfrm>
          <a:prstGeom prst="roundRect">
            <a:avLst>
              <a:gd name="adj" fmla="val 56250"/>
            </a:avLst>
          </a:prstGeom>
          <a:solidFill>
            <a:srgbClr val="E4F4EA"/>
          </a:solidFill>
          <a:ln w="12700">
            <a:solidFill>
              <a:srgbClr val="E4F4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01384" y="40050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6B3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Exécution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53712" y="438912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Passages NFC réussis</a:t>
            </a:r>
            <a:endParaRPr lang="en-US" sz="13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≥ 95 % sur 20 essais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553712" y="5166360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ça décroche : 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repli sur un simulateur de borne pour la démo.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10144" y="3840480"/>
            <a:ext cx="3502152" cy="2011680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238744" y="3977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K6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0186416" y="4005072"/>
            <a:ext cx="1097280" cy="292608"/>
          </a:xfrm>
          <a:prstGeom prst="roundRect">
            <a:avLst>
              <a:gd name="adj" fmla="val 56250"/>
            </a:avLst>
          </a:prstGeom>
          <a:solidFill>
            <a:srgbClr val="E4F4EA"/>
          </a:solidFill>
          <a:ln w="12700">
            <a:solidFill>
              <a:srgbClr val="E4F4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186416" y="40050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6B3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Exécution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38744" y="438912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Équilibre des contributions</a:t>
            </a:r>
            <a:endParaRPr lang="en-US" sz="13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≥ 5 commits, 2 revues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238744" y="5166360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ça décroche : 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redistribution des tâches, binôme sur le lot en retard.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Notre vision à long terme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Faire de la sortie un réflexe quotidien chez les jeunes urbains, et devenir le réseau qui prouve le déplacement réel aux lieux qui en vivent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2743200" cy="3566160"/>
          </a:xfrm>
          <a:prstGeom prst="roundRect">
            <a:avLst>
              <a:gd name="adj" fmla="val 5000"/>
            </a:avLst>
          </a:prstGeom>
          <a:solidFill>
            <a:srgbClr val="DCEBEE"/>
          </a:solidFill>
          <a:ln w="9525">
            <a:solidFill>
              <a:srgbClr val="1E3A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2286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2027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188720" y="3246120"/>
            <a:ext cx="548640" cy="548640"/>
          </a:xfrm>
          <a:prstGeom prst="ellipse">
            <a:avLst/>
          </a:prstGeom>
          <a:solidFill>
            <a:schemeClr val="tx1"/>
          </a:solidFill>
          <a:ln w="25400">
            <a:solidFill>
              <a:srgbClr val="2F6B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3246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Pilote 11e et 19e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4160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bornes, puis 40 lieux et le lancement à Paris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38328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➜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892040" y="2103120"/>
            <a:ext cx="2743200" cy="3566160"/>
          </a:xfrm>
          <a:prstGeom prst="roundRect">
            <a:avLst>
              <a:gd name="adj" fmla="val 5000"/>
            </a:avLst>
          </a:prstGeom>
          <a:solidFill>
            <a:srgbClr val="C7E0C4"/>
          </a:solidFill>
          <a:ln w="9525">
            <a:solidFill>
              <a:srgbClr val="1E3A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2286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2028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4617720" y="3246120"/>
            <a:ext cx="548640" cy="548640"/>
          </a:xfrm>
          <a:prstGeom prst="ellipse">
            <a:avLst/>
          </a:prstGeom>
          <a:solidFill>
            <a:schemeClr val="tx1"/>
          </a:solidFill>
          <a:ln w="25400">
            <a:solidFill>
              <a:srgbClr val="2F6B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3246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Paris intra-muros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4160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 bornes et le seuil de rentabilité visé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338328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➜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321040" y="2103120"/>
            <a:ext cx="2743200" cy="3566160"/>
          </a:xfrm>
          <a:prstGeom prst="roundRect">
            <a:avLst>
              <a:gd name="adj" fmla="val 5000"/>
            </a:avLst>
          </a:prstGeom>
          <a:solidFill>
            <a:srgbClr val="FBE2D5"/>
          </a:solidFill>
          <a:ln w="9525">
            <a:solidFill>
              <a:srgbClr val="1E3A4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2286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2029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8046720" y="3246120"/>
            <a:ext cx="548640" cy="548640"/>
          </a:xfrm>
          <a:prstGeom prst="ellipse">
            <a:avLst/>
          </a:prstGeom>
          <a:solidFill>
            <a:schemeClr val="tx1"/>
          </a:solidFill>
          <a:ln w="25400">
            <a:solidFill>
              <a:srgbClr val="2F6B7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3246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D'autres métropoles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549640" y="4160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modèle se répète d'une ville à l'autre, et l'app arrive sur iOS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377440"/>
            <a:ext cx="2011680" cy="2011680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23774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QR code</a:t>
            </a:r>
            <a:endParaRPr lang="en-US" sz="1300" dirty="0"/>
          </a:p>
        </p:txBody>
      </p:sp>
      <p:pic>
        <p:nvPicPr>
          <p:cNvPr id="4" name="Image 0" descr="/home/thomas/Bureau/SAE/scubanion/docs/r501/assets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3429000"/>
            <a:ext cx="640080" cy="585216"/>
          </a:xfrm>
          <a:prstGeom prst="rect">
            <a:avLst/>
          </a:prstGeom>
        </p:spPr>
      </p:pic>
      <p:pic>
        <p:nvPicPr>
          <p:cNvPr id="5" name="Image 1" descr="/home/thomas/Bureau/SAE/scubanion/docs/r501/assets/images/maquette-accue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502920"/>
            <a:ext cx="2703680" cy="58521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223760" y="18288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Scubanion</a:t>
            </a:r>
            <a:endParaRPr lang="en-US" sz="5000" dirty="0"/>
          </a:p>
        </p:txBody>
      </p:sp>
      <p:sp>
        <p:nvSpPr>
          <p:cNvPr id="7" name="Text 3"/>
          <p:cNvSpPr txBox="1"/>
          <p:nvPr/>
        </p:nvSpPr>
        <p:spPr>
          <a:xfrm>
            <a:off x="7223760" y="288036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compagnon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 vrais pas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 vraies rencontres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8595360" y="4434840"/>
            <a:ext cx="164592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95360" y="4434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Télécharger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6858000"/>
          </a:xfrm>
          <a:prstGeom prst="chevron">
            <a:avLst/>
          </a:prstGeom>
          <a:solidFill>
            <a:srgbClr val="1E3A42"/>
          </a:solidFill>
          <a:ln w="12700">
            <a:solidFill>
              <a:srgbClr val="1E3A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6517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100" kern="0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PARTIE TECHNIQUE</a:t>
            </a:r>
            <a:endParaRPr lang="en-US" sz="5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 moment clé : le passage en borne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Dix secondes, debout, dans un musée ou devant un restaurant</a:t>
            </a:r>
            <a:endParaRPr lang="en-US" sz="1500" dirty="0"/>
          </a:p>
        </p:txBody>
      </p:sp>
      <p:pic>
        <p:nvPicPr>
          <p:cNvPr id="4" name="Image 0" descr="/home/thomas/Bureau/SAE/scubanion/docs/r501/assets/images/story-musee-2-pose-nf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37360"/>
            <a:ext cx="2606040" cy="2377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4315968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approche le téléphone, comme pour un paiement sans contact.</a:t>
            </a:r>
            <a:endParaRPr lang="en-US" sz="1300" dirty="0"/>
          </a:p>
        </p:txBody>
      </p:sp>
      <p:pic>
        <p:nvPicPr>
          <p:cNvPr id="7" name="Image 1" descr="/home/thomas/Bureau/SAE/scubanion/docs/r501/assets/images/story-musee-3-chargemen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10712" y="1737360"/>
            <a:ext cx="2606040" cy="23774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410712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4050792" y="4315968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borne reconnaît le lieu et prévient le serveur.</a:t>
            </a:r>
            <a:endParaRPr lang="en-US" sz="1300" dirty="0"/>
          </a:p>
        </p:txBody>
      </p:sp>
      <p:pic>
        <p:nvPicPr>
          <p:cNvPr id="10" name="Image 2" descr="/home/thomas/Bureau/SAE/scubanion/docs/r501/assets/images/story-musee-4-bull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81344" y="1737360"/>
            <a:ext cx="2606040" cy="23774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181344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6821424" y="4315968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L'objet sort de l'œuvre et entre dans le téléphone.</a:t>
            </a:r>
            <a:endParaRPr lang="en-US" sz="1300" dirty="0"/>
          </a:p>
        </p:txBody>
      </p:sp>
      <p:pic>
        <p:nvPicPr>
          <p:cNvPr id="13" name="Image 3" descr="/home/thomas/Bureau/SAE/scubanion/docs/r501/assets/images/story-musee-6-equiper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51976" y="1737360"/>
            <a:ext cx="2606040" cy="23774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951976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9"/>
          <p:cNvSpPr txBox="1"/>
          <p:nvPr/>
        </p:nvSpPr>
        <p:spPr>
          <a:xfrm>
            <a:off x="9592056" y="4315968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Exclusif au lieu : on ne l'obtient qu'en y étant allé.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640080" y="5989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Deux films de 15 secondes accompagnent le dossier : un musée, un restaurant partenaire.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Trois briques, une chaîne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 téléphone, le serveur et la borne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91840" cy="178308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📱</a:t>
            </a:r>
            <a:endParaRPr lang="en-US" sz="13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Application Android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compte les pas, affiche le compagnon, les quêtes et la carte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2286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⇄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389120" y="1691640"/>
            <a:ext cx="3291840" cy="178308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0" y="178308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🖥️</a:t>
            </a:r>
            <a:endParaRPr lang="en-US" sz="13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Serveur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règles du jeu, anti-triche, mémoire de tout le système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2286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⇄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291840" cy="178308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21040" y="178308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🗿</a:t>
            </a:r>
            <a:endParaRPr lang="en-US" sz="13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Borne connectée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 le téléphone, affiche la récompense, prévient le serveur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5349240" cy="1737360"/>
          </a:xfrm>
          <a:prstGeom prst="roundRect">
            <a:avLst>
              <a:gd name="adj" fmla="val 7895"/>
            </a:avLst>
          </a:prstGeom>
          <a:solidFill>
            <a:srgbClr val="EAF3F5"/>
          </a:solidFill>
          <a:ln w="9525">
            <a:solidFill>
              <a:srgbClr val="DCEB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886200"/>
            <a:ext cx="4800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Une règle qui structure tout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Rien n'est calculé sur le téléphone.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pas sont plafonnés par heure et recoupés avec la position ; c'est le serveur qui valide quêtes et passages.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3749040"/>
            <a:ext cx="5349240" cy="1737360"/>
          </a:xfrm>
          <a:prstGeom prst="roundRect">
            <a:avLst>
              <a:gd name="adj" fmla="val 7895"/>
            </a:avLst>
          </a:prstGeom>
          <a:solidFill>
            <a:srgbClr val="EAF3F5"/>
          </a:solidFill>
          <a:ln w="9525">
            <a:solidFill>
              <a:srgbClr val="DCEB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3886200"/>
            <a:ext cx="4800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La borne, pièce par pièce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Carte ESP32 à écran tactile, puce NFC ST25DV qui transmet un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jeton signé à usage unique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horloge DS3231 pour fonctionner hors ligne, anneau de LED.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669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NFC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la technologie du paiement sans contact.   </a:t>
            </a:r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MQTT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une façon légère de faire dialoguer de petits objets avec un serveur.   </a:t>
            </a:r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Podomètre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le capteur de pas de tous les téléphones.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Un pivot assumé, et justifié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Pivot : changer de moyen sans changer de promesse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846320" cy="4023360"/>
          </a:xfrm>
          <a:prstGeom prst="roundRect">
            <a:avLst>
              <a:gd name="adj" fmla="val 3409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Au départ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4688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Un bracelet connecté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10896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Lire les pas d'un bracelet du commerce, sans son application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sécurité propriétaire à contourner, sans garantie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risque lourd sur le chemin critique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un bénéfice nul : le téléphone compte déjà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20840" y="1737360"/>
            <a:ext cx="4846320" cy="4023360"/>
          </a:xfrm>
          <a:prstGeom prst="roundRect">
            <a:avLst>
              <a:gd name="adj" fmla="val 3409"/>
            </a:avLst>
          </a:prstGeom>
          <a:solidFill>
            <a:srgbClr val="1C9A5A"/>
          </a:solidFill>
          <a:ln w="9525">
            <a:solidFill>
              <a:srgbClr val="1C9A5A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40880" y="196596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40880" y="19659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6B3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Après le pivot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4688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 podomètre du téléphone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310896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Plus rien à acheter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pour le joueur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risque majeur supprimé, deux fonctions livrées dès octobre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Tout l'objet connecté concentré sur la borne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objet fait à fond, plutôt que deux à moitié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32918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→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Un numérique qui envoie dehors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La démarche responsable découle du produit, et elle le contraint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2011680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4C9F38"/>
          </a:solidFill>
          <a:ln w="12700">
            <a:solidFill>
              <a:srgbClr val="4C9F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Bonne santé et bien-être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974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Remettre en mouvement une population sédentaire, et mesurer l'effet.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502152" cy="2011680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18745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D9D24"/>
          </a:solidFill>
          <a:ln w="12700">
            <a:solidFill>
              <a:srgbClr val="FD9D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53712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376672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Villes et communautés durables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6974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Déplacements à pied, patrimoine de proximité, lien de quartier.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10144" y="1691640"/>
            <a:ext cx="3502152" cy="2011680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38744" y="18745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BF8B2E"/>
          </a:solidFill>
          <a:ln w="12700">
            <a:solidFill>
              <a:srgbClr val="BF8B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38744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061704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Consommation responsable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38744" y="26974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Aucun objet vendu, une borne mutualisée, réparable.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3502152" cy="1645920"/>
          </a:xfrm>
          <a:prstGeom prst="roundRect">
            <a:avLst>
              <a:gd name="adj" fmla="val 8333"/>
            </a:avLst>
          </a:prstGeom>
          <a:solidFill>
            <a:srgbClr val="EAF3F5"/>
          </a:solidFill>
          <a:ln w="9525">
            <a:solidFill>
              <a:srgbClr val="DCEB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06908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♻️ Sobriété matérielle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 téléphone suffit. Le seul matériel est partagé par tous les joueurs d'un lieu.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25112" y="3931920"/>
            <a:ext cx="3502152" cy="1645920"/>
          </a:xfrm>
          <a:prstGeom prst="roundRect">
            <a:avLst>
              <a:gd name="adj" fmla="val 8333"/>
            </a:avLst>
          </a:prstGeom>
          <a:solidFill>
            <a:srgbClr val="EAF3F5"/>
          </a:solidFill>
          <a:ln w="9525">
            <a:solidFill>
              <a:srgbClr val="DCEB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53712" y="406908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🔒 Données minimisées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Aucun historique de position, rencontres en zone approximative.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10144" y="3931920"/>
            <a:ext cx="3502152" cy="1645920"/>
          </a:xfrm>
          <a:prstGeom prst="roundRect">
            <a:avLst>
              <a:gd name="adj" fmla="val 8333"/>
            </a:avLst>
          </a:prstGeom>
          <a:solidFill>
            <a:srgbClr val="EAF3F5"/>
          </a:solidFill>
          <a:ln w="9525">
            <a:solidFill>
              <a:srgbClr val="DCEB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38744" y="406908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🎯 Attention respectée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 de publicité : on ne vit pas de l'attention qu'on capte.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Ce qui est fait, ce qui vient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Où en est le projet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10972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2606040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sept. – oct. 2026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Cadrage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Cahier des charges, charte, modèle économique, maquettes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10712" y="1737360"/>
            <a:ext cx="2606040" cy="10972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10712" y="1737360"/>
            <a:ext cx="1303020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10712" y="196596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nov. – déc. 2026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Cœur du jeu et borne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Compagnon, quêtes, amis, prototype de borne, déploiement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81344" y="1737360"/>
            <a:ext cx="2606040" cy="10972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81344" y="196596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janvier 2027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Rendu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Dépôt, documentation, preuve de concept complète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51976" y="1737360"/>
            <a:ext cx="2606040" cy="10972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51976" y="196596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janvier 2027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Soutenance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Démonstration en direct des trois briques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5349240" cy="1920240"/>
          </a:xfrm>
          <a:prstGeom prst="roundRect">
            <a:avLst>
              <a:gd name="adj" fmla="val 7143"/>
            </a:avLst>
          </a:prstGeom>
          <a:solidFill>
            <a:srgbClr val="E4F4EA"/>
          </a:solidFill>
          <a:ln w="9525">
            <a:solidFill>
              <a:srgbClr val="E4F4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794760"/>
            <a:ext cx="4800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✅ Livré à ce jour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Connexion et profil, comptage des pas et envoi au serveur, modèle de données, moteur de quêtes, amis, positions et carte, volet serveur des bornes, chaîne de tests.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349240" cy="1920240"/>
          </a:xfrm>
          <a:prstGeom prst="roundRect">
            <a:avLst>
              <a:gd name="adj" fmla="val 7143"/>
            </a:avLst>
          </a:prstGeom>
          <a:solidFill>
            <a:srgbClr val="FBE2D5"/>
          </a:solidFill>
          <a:ln w="9525">
            <a:solidFill>
              <a:srgbClr val="FBE2D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3794760"/>
            <a:ext cx="4800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⚠️ Le point dur, assumé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borne physique n'est pas encore montée</a:t>
            </a:r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 porte 6 exigences sur 18. C'est notre risque R8, et il est écrit comme tel.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Résultats obtenus, résultats escomptés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Ce qui est mesuré aujourd'hui, ce qui est visé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691640"/>
          </a:xfrm>
          <a:prstGeom prst="roundRect">
            <a:avLst>
              <a:gd name="adj" fmla="val 810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7/18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exigences essentielles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cible : 18 au rendu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10712" y="1691640"/>
            <a:ext cx="2606040" cy="1691640"/>
          </a:xfrm>
          <a:prstGeom prst="roundRect">
            <a:avLst>
              <a:gd name="adj" fmla="val 810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10712" y="17830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206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410712" y="26060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automatisés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règles du jeu et serveur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81344" y="1691640"/>
            <a:ext cx="2606040" cy="1691640"/>
          </a:xfrm>
          <a:prstGeom prst="roundRect">
            <a:avLst>
              <a:gd name="adj" fmla="val 810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81344" y="17830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31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181344" y="26060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contributions fusionnées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relecture croisée obligatoire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51976" y="1691640"/>
            <a:ext cx="2606040" cy="1691640"/>
          </a:xfrm>
          <a:prstGeom prst="roundRect">
            <a:avLst>
              <a:gd name="adj" fmla="val 810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951976" y="17830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8951976" y="26060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entretiens terrain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prix validé à 1,99 €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5349240" cy="2011680"/>
          </a:xfrm>
          <a:prstGeom prst="roundRect">
            <a:avLst>
              <a:gd name="adj" fmla="val 6818"/>
            </a:avLst>
          </a:prstGeom>
          <a:solidFill>
            <a:srgbClr val="EAF3F5"/>
          </a:solidFill>
          <a:ln w="9525">
            <a:solidFill>
              <a:srgbClr val="DCEB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7947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D'ici le rendu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25196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18 exigences essentielles démontrées sans intervention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borne montée, lisant le téléphone, dialoguant en MQTT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Déploiement automatique complet et supervision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657600"/>
            <a:ext cx="5349240" cy="2011680"/>
          </a:xfrm>
          <a:prstGeom prst="roundRect">
            <a:avLst>
              <a:gd name="adj" fmla="val 6818"/>
            </a:avLst>
          </a:prstGeom>
          <a:solidFill>
            <a:srgbClr val="EAF3F5"/>
          </a:solidFill>
          <a:ln w="9525">
            <a:solidFill>
              <a:srgbClr val="DCEB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37947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Au-delà du projet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25196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lettres d'intention, 100 testeurs sur le campus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Rétention à 30 jours mesurée : l'hypothèse centrale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Société créée et amorçage bouclé en 2027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Ce que nous retenons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502152" cy="1828800"/>
          </a:xfrm>
          <a:prstGeom prst="roundRect">
            <a:avLst>
              <a:gd name="adj" fmla="val 7500"/>
            </a:avLst>
          </a:prstGeom>
          <a:solidFill>
            <a:srgbClr val="204E5A"/>
          </a:solidFill>
          <a:ln w="9525">
            <a:solidFill>
              <a:srgbClr val="2F6B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Décider, puis l'écrire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CFE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pivot du bracelet, le prix à 1,99 €, un objectif revu : chaque choix est tracé avec sa raison.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25112" y="1463040"/>
            <a:ext cx="3502152" cy="1828800"/>
          </a:xfrm>
          <a:prstGeom prst="roundRect">
            <a:avLst>
              <a:gd name="adj" fmla="val 7500"/>
            </a:avLst>
          </a:prstGeom>
          <a:solidFill>
            <a:srgbClr val="204E5A"/>
          </a:solidFill>
          <a:ln w="9525">
            <a:solidFill>
              <a:srgbClr val="2F6B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53712" y="160020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Mesurer avant d'affirmer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CFE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prix vient de neuf entretiens, pas d'une intuition. Et ils ont sorti deux enseignements inattendus.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10144" y="1463040"/>
            <a:ext cx="3502152" cy="1828800"/>
          </a:xfrm>
          <a:prstGeom prst="roundRect">
            <a:avLst>
              <a:gd name="adj" fmla="val 7500"/>
            </a:avLst>
          </a:prstGeom>
          <a:solidFill>
            <a:srgbClr val="204E5A"/>
          </a:solidFill>
          <a:ln w="9525">
            <a:solidFill>
              <a:srgbClr val="2F6B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38744" y="160020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Prendre de la hauteur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CFE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retour le plus utile a été le plus exigeant : raisonner en porteurs de projet, pas en étudiants.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931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« Il ne grandit que si </a:t>
            </a:r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toi</a:t>
            </a:r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 tu sors. »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Merci de votre attention.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À VOUS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Questions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31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Équipe Scubatana · BANDIERAS Thomas, DALMASSO Evan, KARROUCHI Hamza, LESUEUR Shaleena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Annexe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Pour répondre aux questions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02152" cy="3840480"/>
          </a:xfrm>
          <a:prstGeom prst="roundRect">
            <a:avLst>
              <a:gd name="adj" fmla="val 391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Documents produits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6888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Charte de projet, 16 pages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Cahier des charges, 32 exigences priorisées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 Canvas et marketing mix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Expérience utilisateur et étude de prix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5112" y="1737360"/>
            <a:ext cx="3502152" cy="3840480"/>
          </a:xfrm>
          <a:prstGeom prst="roundRect">
            <a:avLst>
              <a:gd name="adj" fmla="val 391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99432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Organisation de l'équipe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246888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référent par lot : application, serveur, borne, infrastructure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branche par tâche, relecture croisée avant fusion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hebdomadaire, indicateurs le vendredi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0144" y="1737360"/>
            <a:ext cx="3502152" cy="3840480"/>
          </a:xfrm>
          <a:prstGeom prst="roundRect">
            <a:avLst>
              <a:gd name="adj" fmla="val 391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42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84464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Décisions encore ouvertes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84464" y="246888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Hébergement et outil d'analyse de qualité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 de la norme oneM2M dans l'architecture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Territoire pilote : Paris, ou plus près du terrain réel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989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Dépôt et documentation complète : github.com/Scubatana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C2"/>
                </a:solidFill>
                <a:latin typeface="Baloo 2"/>
                <a:ea typeface="Baloo 2"/>
                <a:cs typeface="Baloo 2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ubanion">
  <a:themeElements>
    <a:clrScheme name="Scubanion">
      <a:dk1>
        <a:srgbClr val="1E3A42"/>
      </a:dk1>
      <a:lt1>
        <a:srgbClr val="FFFFFF"/>
      </a:lt1>
      <a:dk2>
        <a:srgbClr val="204E5A"/>
      </a:dk2>
      <a:lt2>
        <a:srgbClr val="F5FAFB"/>
      </a:lt2>
      <a:accent1>
        <a:srgbClr val="2F6B7A"/>
      </a:accent1>
      <a:accent2>
        <a:srgbClr val="F0855A"/>
      </a:accent2>
      <a:accent3>
        <a:srgbClr val="8FB9C2"/>
      </a:accent3>
      <a:accent4>
        <a:srgbClr val="34C77B"/>
      </a:accent4>
      <a:accent5>
        <a:srgbClr val="C8452F"/>
      </a:accent5>
      <a:accent6>
        <a:srgbClr val="DCEBEE"/>
      </a:accent6>
      <a:hlink>
        <a:srgbClr val="2F6B7A"/>
      </a:hlink>
      <a:folHlink>
        <a:srgbClr val="204E5A"/>
      </a:folHlink>
    </a:clrScheme>
    <a:fontScheme name="Scubanion">
      <a:majorFont>
        <a:latin typeface="Baloo 2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Scubanion — Soutenance</dc:title>
  <dc:subject>PptxGenJS Presentation</dc:subject>
  <dc:creator>Équipe Scubatana</dc:creator>
  <cp:lastModifiedBy>Équipe Scubatana</cp:lastModifiedBy>
  <cp:revision>1</cp:revision>
  <dcterms:created xsi:type="dcterms:W3CDTF">2026-10-22T20:56:16Z</dcterms:created>
  <dcterms:modified xsi:type="dcterms:W3CDTF">2026-10-22T20:56:16Z</dcterms:modified>
</cp:coreProperties>
</file>